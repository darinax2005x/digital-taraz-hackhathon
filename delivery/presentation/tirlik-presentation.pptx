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Tirlik готовит рабочие материалы по данным и ограничениям бизнеса. Это продуктовая презентация без подробного учебного кейса. Растровый фон является специально созданной предметной иллюстрацией; он не является интерфейсом, фотографией клиента или свидетельством AI-запуска.</a:t>
            </a:r>
          </a:p>
          <a:p/>
          <a:p>
            <a:r>
              <a:t>Источники механизма и данных:</a:t>
            </a:r>
          </a:p>
          <a:p>
            <a:r>
              <a:t>src/features/public-site/copy.ts</a:t>
            </a:r>
          </a:p>
          <a:p>
            <a:r>
              <a:t>src/features/agent-tools/server/business-work-adapter.ts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выбирает предметные действия, а среда проверяет права, единицы, источники, ограничения и сохранение результата. Не утверждается, что каждый реальный модельный запуск завершается успешно. Изображены символические бумажные результаты; это не UI и не поддельный ответ модели.</a:t>
            </a:r>
          </a:p>
          <a:p/>
          <a:p>
            <a:r>
              <a:t>Источники механизма и данных:</a:t>
            </a:r>
          </a:p>
          <a:p>
            <a:r>
              <a:t>src/features/runs/server/runtime.ts</a:t>
            </a:r>
          </a:p>
          <a:p>
            <a:r>
              <a:t>src/features/agent-tools/server/business-work-adapter.ts</a:t>
            </a:r>
          </a:p>
          <a:p>
            <a:r>
              <a:t>src/features/artifacts/server/service.ts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Документы, таблицы и формулы остаются типизированными материалами с историей, прямой правкой и основаниями. Объекты на слайде — предметная иллюстрация двух типов материалов. Надписи описывают их состав; это не скриншот и не числовой кейс.</a:t>
            </a:r>
          </a:p>
          <a:p/>
          <a:p>
            <a:r>
              <a:t>Источники механизма и данных:</a:t>
            </a:r>
          </a:p>
          <a:p>
            <a:r>
              <a:t>src/features/documents/ui/document-editor.tsx</a:t>
            </a:r>
          </a:p>
          <a:p>
            <a:r>
              <a:t>src/features/sheets/ui</a:t>
            </a:r>
          </a:p>
          <a:p>
            <a:r>
              <a:t>src/features/artifacts/server/service.ts</a:t>
            </a:r>
          </a:p>
          <a:p>
            <a:r>
              <a:t>tests/project-packages/connected.integration.test.ts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 объединяет планирование по доступности ресурсов, сравнение полных условий закупки и финансовую модель, разделяющую факты, обязательства и допущения. Прогноз требует пригодной истории и исторической проверки. Изображение не содержит вымышленных результатов расчёта.</a:t>
            </a:r>
          </a:p>
          <a:p/>
          <a:p>
            <a:r>
              <a:t>Источники механизма и данных:</a:t>
            </a:r>
          </a:p>
          <a:p>
            <a:r>
              <a:t>src/features/operations/domain/propose-work-plan.ts</a:t>
            </a:r>
          </a:p>
          <a:p>
            <a:r>
              <a:t>src/features/procurement/domain/compare-suppliers.ts</a:t>
            </a:r>
          </a:p>
          <a:p>
            <a:r>
              <a:t>tests/finance/work-builder.integration.test.ts</a:t>
            </a:r>
          </a:p>
          <a:p>
            <a:r>
              <a:t>tests/forecast/run-forecast.test.ts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Проверенный campaign builder сохраняет документ, два послойных макета и план, связывая смысловые значения. Образцы на слайде являются собственной рекламной графикой Tirlik для объяснения форматов и слоёв; это не свидетельство генерации конкретной кампании моделью.</a:t>
            </a:r>
          </a:p>
          <a:p/>
          <a:p>
            <a:r>
              <a:t>Источники механизма и данных:</a:t>
            </a:r>
          </a:p>
          <a:p>
            <a:r>
              <a:t>tests/campaigns/build-work.integration.test.ts</a:t>
            </a:r>
          </a:p>
          <a:p>
            <a:r>
              <a:t>src/features/campaigns/server/build-campaign-work.ts</a:t>
            </a:r>
          </a:p>
          <a:p>
            <a:r>
              <a:t>src/features/designs/ui/design-editor.tsx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Связанный выпуск подтверждён сохранёнными версиями: адресное обновление затрагивает документ и таблицу, сохраняя ручную формулировку и формулу. Реальные DOCX/XLSX входят в ZIP и повторно читаются. Здесь показан символический объект, а не интерфейс или придуманный AI-результат.</a:t>
            </a:r>
          </a:p>
          <a:p/>
          <a:p>
            <a:r>
              <a:t>Источники механизма и данных:</a:t>
            </a:r>
          </a:p>
          <a:p>
            <a:r>
              <a:t>tests/project-packages/connected.integration.test.ts</a:t>
            </a:r>
          </a:p>
          <a:p>
            <a:r>
              <a:t>src/features/dependencies/server/service.ts</a:t>
            </a:r>
          </a:p>
          <a:p>
            <a:r>
              <a:t>src/features/change-review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Сохранённый бизнес-контекст, проектный доступ и комментарии к конкретной версии позволяют продолжать работу с коллегами. Повтор использует новые данные и создаёт новый черновик, не переписывая принятый результат. Участники и доказательства использования не выдумываются.</a:t>
            </a:r>
          </a:p>
          <a:p/>
          <a:p>
            <a:r>
              <a:t>Источники механизма и данных:</a:t>
            </a:r>
          </a:p>
          <a:p>
            <a:r>
              <a:t>src/features/business-context</a:t>
            </a:r>
          </a:p>
          <a:p>
            <a:r>
              <a:t>tests/collaboration</a:t>
            </a:r>
          </a:p>
          <a:p>
            <a:r>
              <a:t>tests/recurring-work</a:t>
            </a:r>
          </a:p>
          <a:p>
            <a:r>
              <a:t>src/features/recurring-work/server/rules.ts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Материалы экспортируются в реальные форматы. Документ поддерживает DOCX/PDF, таблица XLSX/PDF/CSV, план ICS/XLSX/PDF, макет PNG/PDF, комплект ZIP. Слайд не обещает автоматическую отправку клиентам или внешнюю публикацию. Файловые объекты — оригинальная символическая иллюстрация, не поддельные выгрузки.</a:t>
            </a:r>
          </a:p>
          <a:p/>
          <a:p>
            <a:r>
              <a:t>Источники механизма и данных:</a:t>
            </a:r>
          </a:p>
          <a:p>
            <a:r>
              <a:t>src/features/exports/server/documents/index.ts</a:t>
            </a:r>
          </a:p>
          <a:p>
            <a:r>
              <a:t>src/features/exports/server/sheets.ts</a:t>
            </a:r>
          </a:p>
          <a:p>
            <a:r>
              <a:t>src/features/operations/server/exports.ts</a:t>
            </a:r>
          </a:p>
          <a:p>
            <a:r>
              <a:t>src/features/design-export/server/render.ts</a:t>
            </a:r>
          </a:p>
          <a:p>
            <a:r>
              <a:t>tests/project-packages/connected.integration.test.ts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Ссылки ведут на действительный публичный адрес и репозиторий проекта. Эта презентация не объявляет завершённой визуальную приёмку или успешность всех AI-сценариев. Пилотных бизнес-замеров нет; необоснованных численных обещаний в слайдах нет.</a:t>
            </a:r>
          </a:p>
          <a:p/>
          <a:p>
            <a:r>
              <a:t>Источники механизма и данных:</a:t>
            </a:r>
          </a:p>
          <a:p>
            <a:r>
              <a:t>README.md</a:t>
            </a:r>
          </a:p>
          <a:p>
            <a:r>
              <a:t>src/features/public-site/copy.ts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irlik.vercel.app" TargetMode="External"/><Relationship Id="rId4" Type="http://schemas.openxmlformats.org/officeDocument/2006/relationships/hyperlink" Target="https://github.com/DarinaX2005X/digital-taraz-hackhathon" TargetMode="Externa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[1]" descr="hero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rlik [2]"/>
          <p:cNvSpPr txBox="1"/>
          <p:nvPr/>
        </p:nvSpPr>
        <p:spPr>
          <a:xfrm>
            <a:off x="677333" y="914400"/>
            <a:ext cx="5757333" cy="1236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33"/>
              </a:lnSpc>
              <a:spcBef>
                <a:spcPts val="0"/>
              </a:spcBef>
              <a:spcAft>
                <a:spcPts val="0"/>
              </a:spcAft>
            </a:pPr>
            <a:r>
              <a:rPr sz="7466" b="1">
                <a:solidFill>
                  <a:srgbClr val="F3F6F4"/>
                </a:solidFill>
                <a:latin typeface="Noto Sans"/>
              </a:rPr>
              <a:t>Tirlik</a:t>
            </a:r>
          </a:p>
        </p:txBody>
      </p:sp>
      <p:sp>
        <p:nvSpPr>
          <p:cNvPr id="4" name="Всё для вашего бизнеса [3]"/>
          <p:cNvSpPr txBox="1"/>
          <p:nvPr/>
        </p:nvSpPr>
        <p:spPr>
          <a:xfrm>
            <a:off x="677333" y="2353733"/>
            <a:ext cx="5842000" cy="1553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16"/>
              </a:lnSpc>
              <a:spcBef>
                <a:spcPts val="0"/>
              </a:spcBef>
              <a:spcAft>
                <a:spcPts val="0"/>
              </a:spcAft>
            </a:pPr>
            <a:r>
              <a:rPr sz="4733" b="1">
                <a:solidFill>
                  <a:srgbClr val="F3F6F4"/>
                </a:solidFill>
                <a:latin typeface="Noto Sans"/>
              </a:rPr>
              <a:t>Всё для</a:t>
            </a:r>
          </a:p>
          <a:p>
            <a:pPr algn="l">
              <a:lnSpc>
                <a:spcPts val="5916"/>
              </a:lnSpc>
              <a:spcBef>
                <a:spcPts val="0"/>
              </a:spcBef>
              <a:spcAft>
                <a:spcPts val="0"/>
              </a:spcAft>
            </a:pPr>
            <a:r>
              <a:rPr sz="4733" b="1">
                <a:solidFill>
                  <a:srgbClr val="F3F6F4"/>
                </a:solidFill>
                <a:latin typeface="Noto Sans"/>
              </a:rPr>
              <a:t>вашего бизнеса</a:t>
            </a:r>
          </a:p>
        </p:txBody>
      </p:sp>
      <p:sp>
        <p:nvSpPr>
          <p:cNvPr id="5" name="Рабочие материалы по вашим данным и ограничениям. [4]"/>
          <p:cNvSpPr txBox="1"/>
          <p:nvPr/>
        </p:nvSpPr>
        <p:spPr>
          <a:xfrm>
            <a:off x="711200" y="4605866"/>
            <a:ext cx="5418666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Рабочие материалы по вашим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данным и ограничениям.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I готовит материалы по вашим условиям [1]"/>
          <p:cNvSpPr txBox="1"/>
          <p:nvPr/>
        </p:nvSpPr>
        <p:spPr>
          <a:xfrm>
            <a:off x="677333" y="626533"/>
            <a:ext cx="10837333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AI готовит материалы</a:t>
            </a:r>
          </a:p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по вашим условиям</a:t>
            </a:r>
          </a:p>
        </p:txBody>
      </p:sp>
      <p:sp>
        <p:nvSpPr>
          <p:cNvPr id="3" name="Сопоставляет исходники, проверяет сроки, суммы и условия, собирает нов [2]"/>
          <p:cNvSpPr txBox="1"/>
          <p:nvPr/>
        </p:nvSpPr>
        <p:spPr>
          <a:xfrm>
            <a:off x="677333" y="2540000"/>
            <a:ext cx="5080000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Сопоставляет исходники,</a:t>
            </a:r>
          </a:p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проверяет сроки, суммы и условия,</a:t>
            </a:r>
          </a:p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собирает новые материалы.</a:t>
            </a:r>
          </a:p>
        </p:txBody>
      </p:sp>
      <p:sp>
        <p:nvSpPr>
          <p:cNvPr id="4" name="Результат сохраняется в рабочем проекте. [3]"/>
          <p:cNvSpPr txBox="1"/>
          <p:nvPr/>
        </p:nvSpPr>
        <p:spPr>
          <a:xfrm>
            <a:off x="677333" y="4690533"/>
            <a:ext cx="4910666" cy="7069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F3F6F4"/>
                </a:solidFill>
                <a:latin typeface="Noto Sans"/>
              </a:rPr>
              <a:t>Результат сохраняется</a:t>
            </a:r>
          </a:p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F3F6F4"/>
                </a:solidFill>
                <a:latin typeface="Noto Sans"/>
              </a:rPr>
              <a:t>в рабочем проекте.</a:t>
            </a:r>
          </a:p>
        </p:txBody>
      </p:sp>
      <p:sp>
        <p:nvSpPr>
          <p:cNvPr id="5" name="poly [4]"/>
          <p:cNvSpPr/>
          <p:nvPr/>
        </p:nvSpPr>
        <p:spPr>
          <a:xfrm>
            <a:off x="6904800" y="2595600"/>
            <a:ext cx="3864000" cy="3024000"/>
          </a:xfrm>
          <a:custGeom>
            <a:avLst/>
            <a:gdLst/>
            <a:ahLst/>
            <a:cxnLst/>
            <a:rect l="l" t="t" r="r" b="b"/>
            <a:pathLst>
              <a:path w="46000" h="36000">
                <a:moveTo>
                  <a:pt x="0" y="0"/>
                </a:moveTo>
                <a:lnTo>
                  <a:pt x="42400" y="0"/>
                </a:lnTo>
                <a:lnTo>
                  <a:pt x="46000" y="3000"/>
                </a:lnTo>
                <a:lnTo>
                  <a:pt x="46000" y="36000"/>
                </a:lnTo>
                <a:lnTo>
                  <a:pt x="0" y="36000"/>
                </a:lnTo>
                <a:close/>
              </a:path>
            </a:pathLst>
          </a:custGeom>
          <a:solidFill>
            <a:srgbClr val="0B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10768800" y="2847600"/>
            <a:ext cx="134400" cy="2872800"/>
          </a:xfrm>
          <a:custGeom>
            <a:avLst/>
            <a:gdLst/>
            <a:ahLst/>
            <a:cxnLst/>
            <a:rect l="l" t="t" r="r" b="b"/>
            <a:pathLst>
              <a:path w="1600" h="34200">
                <a:moveTo>
                  <a:pt x="0" y="0"/>
                </a:moveTo>
                <a:lnTo>
                  <a:pt x="1600" y="1000"/>
                </a:lnTo>
                <a:lnTo>
                  <a:pt x="1600" y="34200"/>
                </a:lnTo>
                <a:lnTo>
                  <a:pt x="0" y="33000"/>
                </a:lnTo>
                <a:close/>
              </a:path>
            </a:pathLst>
          </a:custGeom>
          <a:solidFill>
            <a:srgbClr val="062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6904800" y="5619600"/>
            <a:ext cx="3998400" cy="100800"/>
          </a:xfrm>
          <a:custGeom>
            <a:avLst/>
            <a:gdLst/>
            <a:ahLst/>
            <a:cxnLst/>
            <a:rect l="l" t="t" r="r" b="b"/>
            <a:pathLst>
              <a:path w="47600" h="1200">
                <a:moveTo>
                  <a:pt x="0" y="0"/>
                </a:moveTo>
                <a:lnTo>
                  <a:pt x="46000" y="0"/>
                </a:lnTo>
                <a:lnTo>
                  <a:pt x="47600" y="1200"/>
                </a:lnTo>
                <a:lnTo>
                  <a:pt x="1600" y="1200"/>
                </a:lnTo>
                <a:close/>
              </a:path>
            </a:pathLst>
          </a:custGeom>
          <a:solidFill>
            <a:srgbClr val="052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6938400" y="2629200"/>
            <a:ext cx="3578400" cy="84000"/>
          </a:xfrm>
          <a:custGeom>
            <a:avLst/>
            <a:gdLst/>
            <a:ahLst/>
            <a:cxnLst/>
            <a:rect l="l" t="t" r="r" b="b"/>
            <a:pathLst>
              <a:path w="42600" h="1000">
                <a:moveTo>
                  <a:pt x="0" y="0"/>
                </a:moveTo>
                <a:lnTo>
                  <a:pt x="41600" y="0"/>
                </a:lnTo>
                <a:lnTo>
                  <a:pt x="42600" y="1000"/>
                </a:lnTo>
                <a:lnTo>
                  <a:pt x="1000" y="1000"/>
                </a:lnTo>
                <a:close/>
              </a:path>
            </a:pathLst>
          </a:custGeom>
          <a:solidFill>
            <a:srgbClr val="2D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ly [8]"/>
          <p:cNvSpPr/>
          <p:nvPr/>
        </p:nvSpPr>
        <p:spPr>
          <a:xfrm>
            <a:off x="6358800" y="5157600"/>
            <a:ext cx="3578400" cy="184800"/>
          </a:xfrm>
          <a:custGeom>
            <a:avLst/>
            <a:gdLst/>
            <a:ahLst/>
            <a:cxnLst/>
            <a:rect l="l" t="t" r="r" b="b"/>
            <a:pathLst>
              <a:path w="42600" h="2200">
                <a:moveTo>
                  <a:pt x="0" y="0"/>
                </a:moveTo>
                <a:lnTo>
                  <a:pt x="39800" y="0"/>
                </a:lnTo>
                <a:lnTo>
                  <a:pt x="426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y [9]"/>
          <p:cNvSpPr/>
          <p:nvPr/>
        </p:nvSpPr>
        <p:spPr>
          <a:xfrm>
            <a:off x="9416400" y="2108400"/>
            <a:ext cx="84000" cy="3066000"/>
          </a:xfrm>
          <a:custGeom>
            <a:avLst/>
            <a:gdLst/>
            <a:ahLst/>
            <a:cxnLst/>
            <a:rect l="l" t="t" r="r" b="b"/>
            <a:pathLst>
              <a:path w="1000" h="36500">
                <a:moveTo>
                  <a:pt x="0" y="0"/>
                </a:moveTo>
                <a:lnTo>
                  <a:pt x="1000" y="1000"/>
                </a:lnTo>
                <a:lnTo>
                  <a:pt x="1000" y="36500"/>
                </a:lnTo>
                <a:lnTo>
                  <a:pt x="0" y="355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ly [10]"/>
          <p:cNvSpPr/>
          <p:nvPr/>
        </p:nvSpPr>
        <p:spPr>
          <a:xfrm>
            <a:off x="6258000" y="5090400"/>
            <a:ext cx="3242400" cy="84000"/>
          </a:xfrm>
          <a:custGeom>
            <a:avLst/>
            <a:gdLst/>
            <a:ahLst/>
            <a:cxnLst/>
            <a:rect l="l" t="t" r="r" b="b"/>
            <a:pathLst>
              <a:path w="38600" h="1000">
                <a:moveTo>
                  <a:pt x="0" y="0"/>
                </a:moveTo>
                <a:lnTo>
                  <a:pt x="37600" y="0"/>
                </a:lnTo>
                <a:lnTo>
                  <a:pt x="38600" y="1000"/>
                </a:lnTo>
                <a:lnTo>
                  <a:pt x="1000" y="10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y [11]"/>
          <p:cNvSpPr/>
          <p:nvPr/>
        </p:nvSpPr>
        <p:spPr>
          <a:xfrm>
            <a:off x="6258000" y="2108400"/>
            <a:ext cx="3158400" cy="2982000"/>
          </a:xfrm>
          <a:custGeom>
            <a:avLst/>
            <a:gdLst/>
            <a:ahLst/>
            <a:cxnLst/>
            <a:rect l="l" t="t" r="r" b="b"/>
            <a:pathLst>
              <a:path w="37600" h="35500">
                <a:moveTo>
                  <a:pt x="0" y="0"/>
                </a:moveTo>
                <a:lnTo>
                  <a:pt x="33100" y="0"/>
                </a:lnTo>
                <a:lnTo>
                  <a:pt x="37600" y="4500"/>
                </a:lnTo>
                <a:lnTo>
                  <a:pt x="37600" y="35500"/>
                </a:lnTo>
                <a:lnTo>
                  <a:pt x="0" y="35500"/>
                </a:lnTo>
                <a:close/>
              </a:path>
            </a:pathLst>
          </a:custGeom>
          <a:solidFill>
            <a:srgbClr val="8DB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y [12]"/>
          <p:cNvSpPr/>
          <p:nvPr/>
        </p:nvSpPr>
        <p:spPr>
          <a:xfrm>
            <a:off x="9038400" y="21084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План [13]"/>
          <p:cNvSpPr txBox="1"/>
          <p:nvPr/>
        </p:nvSpPr>
        <p:spPr>
          <a:xfrm>
            <a:off x="6561666" y="2362200"/>
            <a:ext cx="2540000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План</a:t>
            </a:r>
          </a:p>
        </p:txBody>
      </p:sp>
      <p:sp>
        <p:nvSpPr>
          <p:cNvPr id="15" name="poly [14]"/>
          <p:cNvSpPr/>
          <p:nvPr/>
        </p:nvSpPr>
        <p:spPr>
          <a:xfrm>
            <a:off x="6988800" y="5695200"/>
            <a:ext cx="3578400" cy="184800"/>
          </a:xfrm>
          <a:custGeom>
            <a:avLst/>
            <a:gdLst/>
            <a:ahLst/>
            <a:cxnLst/>
            <a:rect l="l" t="t" r="r" b="b"/>
            <a:pathLst>
              <a:path w="42600" h="2200">
                <a:moveTo>
                  <a:pt x="0" y="0"/>
                </a:moveTo>
                <a:lnTo>
                  <a:pt x="39800" y="0"/>
                </a:lnTo>
                <a:lnTo>
                  <a:pt x="426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y [15]"/>
          <p:cNvSpPr/>
          <p:nvPr/>
        </p:nvSpPr>
        <p:spPr>
          <a:xfrm>
            <a:off x="10046400" y="2788800"/>
            <a:ext cx="84000" cy="2923200"/>
          </a:xfrm>
          <a:custGeom>
            <a:avLst/>
            <a:gdLst/>
            <a:ahLst/>
            <a:cxnLst/>
            <a:rect l="l" t="t" r="r" b="b"/>
            <a:pathLst>
              <a:path w="1000" h="34800">
                <a:moveTo>
                  <a:pt x="0" y="0"/>
                </a:moveTo>
                <a:lnTo>
                  <a:pt x="1000" y="1000"/>
                </a:lnTo>
                <a:lnTo>
                  <a:pt x="1000" y="34800"/>
                </a:lnTo>
                <a:lnTo>
                  <a:pt x="0" y="338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ly [16]"/>
          <p:cNvSpPr/>
          <p:nvPr/>
        </p:nvSpPr>
        <p:spPr>
          <a:xfrm>
            <a:off x="6888000" y="5628000"/>
            <a:ext cx="3242400" cy="84000"/>
          </a:xfrm>
          <a:custGeom>
            <a:avLst/>
            <a:gdLst/>
            <a:ahLst/>
            <a:cxnLst/>
            <a:rect l="l" t="t" r="r" b="b"/>
            <a:pathLst>
              <a:path w="38600" h="1000">
                <a:moveTo>
                  <a:pt x="0" y="0"/>
                </a:moveTo>
                <a:lnTo>
                  <a:pt x="37600" y="0"/>
                </a:lnTo>
                <a:lnTo>
                  <a:pt x="38600" y="1000"/>
                </a:lnTo>
                <a:lnTo>
                  <a:pt x="1000" y="10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y [17]"/>
          <p:cNvSpPr/>
          <p:nvPr/>
        </p:nvSpPr>
        <p:spPr>
          <a:xfrm>
            <a:off x="6888000" y="2788800"/>
            <a:ext cx="3158400" cy="2839200"/>
          </a:xfrm>
          <a:custGeom>
            <a:avLst/>
            <a:gdLst/>
            <a:ahLst/>
            <a:cxnLst/>
            <a:rect l="l" t="t" r="r" b="b"/>
            <a:pathLst>
              <a:path w="37600" h="33800">
                <a:moveTo>
                  <a:pt x="0" y="0"/>
                </a:moveTo>
                <a:lnTo>
                  <a:pt x="33100" y="0"/>
                </a:lnTo>
                <a:lnTo>
                  <a:pt x="37600" y="4500"/>
                </a:lnTo>
                <a:lnTo>
                  <a:pt x="37600" y="33800"/>
                </a:lnTo>
                <a:lnTo>
                  <a:pt x="0" y="33800"/>
                </a:lnTo>
                <a:close/>
              </a:path>
            </a:pathLst>
          </a:custGeom>
          <a:solidFill>
            <a:srgbClr val="B5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ly [18]"/>
          <p:cNvSpPr/>
          <p:nvPr/>
        </p:nvSpPr>
        <p:spPr>
          <a:xfrm>
            <a:off x="9668400" y="27888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Предложение [19]"/>
          <p:cNvSpPr txBox="1"/>
          <p:nvPr/>
        </p:nvSpPr>
        <p:spPr>
          <a:xfrm>
            <a:off x="7196666" y="3056466"/>
            <a:ext cx="2624666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32E"/>
                </a:solidFill>
                <a:latin typeface="Noto Sans"/>
              </a:rPr>
              <a:t>Предложение</a:t>
            </a:r>
          </a:p>
        </p:txBody>
      </p:sp>
      <p:sp>
        <p:nvSpPr>
          <p:cNvPr id="21" name="poly [20]"/>
          <p:cNvSpPr/>
          <p:nvPr/>
        </p:nvSpPr>
        <p:spPr>
          <a:xfrm>
            <a:off x="7618800" y="6039600"/>
            <a:ext cx="3595200" cy="184800"/>
          </a:xfrm>
          <a:custGeom>
            <a:avLst/>
            <a:gdLst/>
            <a:ahLst/>
            <a:cxnLst/>
            <a:rect l="l" t="t" r="r" b="b"/>
            <a:pathLst>
              <a:path w="42800" h="2200">
                <a:moveTo>
                  <a:pt x="0" y="0"/>
                </a:moveTo>
                <a:lnTo>
                  <a:pt x="40000" y="0"/>
                </a:lnTo>
                <a:lnTo>
                  <a:pt x="428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ly [21]"/>
          <p:cNvSpPr/>
          <p:nvPr/>
        </p:nvSpPr>
        <p:spPr>
          <a:xfrm>
            <a:off x="10676400" y="3502800"/>
            <a:ext cx="100800" cy="2570400"/>
          </a:xfrm>
          <a:custGeom>
            <a:avLst/>
            <a:gdLst/>
            <a:ahLst/>
            <a:cxnLst/>
            <a:rect l="l" t="t" r="r" b="b"/>
            <a:pathLst>
              <a:path w="1200" h="30600">
                <a:moveTo>
                  <a:pt x="0" y="0"/>
                </a:moveTo>
                <a:lnTo>
                  <a:pt x="1200" y="1200"/>
                </a:lnTo>
                <a:lnTo>
                  <a:pt x="1200" y="30600"/>
                </a:lnTo>
                <a:lnTo>
                  <a:pt x="0" y="294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ly [22]"/>
          <p:cNvSpPr/>
          <p:nvPr/>
        </p:nvSpPr>
        <p:spPr>
          <a:xfrm>
            <a:off x="7518000" y="5972400"/>
            <a:ext cx="3259200" cy="100800"/>
          </a:xfrm>
          <a:custGeom>
            <a:avLst/>
            <a:gdLst/>
            <a:ahLst/>
            <a:cxnLst/>
            <a:rect l="l" t="t" r="r" b="b"/>
            <a:pathLst>
              <a:path w="38800" h="1200">
                <a:moveTo>
                  <a:pt x="0" y="0"/>
                </a:moveTo>
                <a:lnTo>
                  <a:pt x="37600" y="0"/>
                </a:lnTo>
                <a:lnTo>
                  <a:pt x="38800" y="1200"/>
                </a:lnTo>
                <a:lnTo>
                  <a:pt x="1200" y="12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ly [23]"/>
          <p:cNvSpPr/>
          <p:nvPr/>
        </p:nvSpPr>
        <p:spPr>
          <a:xfrm>
            <a:off x="7518000" y="3502800"/>
            <a:ext cx="3158400" cy="2469600"/>
          </a:xfrm>
          <a:custGeom>
            <a:avLst/>
            <a:gdLst/>
            <a:ahLst/>
            <a:cxnLst/>
            <a:rect l="l" t="t" r="r" b="b"/>
            <a:pathLst>
              <a:path w="37600" h="29400">
                <a:moveTo>
                  <a:pt x="0" y="0"/>
                </a:moveTo>
                <a:lnTo>
                  <a:pt x="33100" y="0"/>
                </a:lnTo>
                <a:lnTo>
                  <a:pt x="37600" y="4500"/>
                </a:lnTo>
                <a:lnTo>
                  <a:pt x="37600" y="29400"/>
                </a:lnTo>
                <a:lnTo>
                  <a:pt x="0" y="29400"/>
                </a:lnTo>
                <a:close/>
              </a:path>
            </a:pathLst>
          </a:cu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ly [24]"/>
          <p:cNvSpPr/>
          <p:nvPr/>
        </p:nvSpPr>
        <p:spPr>
          <a:xfrm>
            <a:off x="10298400" y="35028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Смета [25]"/>
          <p:cNvSpPr txBox="1"/>
          <p:nvPr/>
        </p:nvSpPr>
        <p:spPr>
          <a:xfrm>
            <a:off x="7831666" y="3801533"/>
            <a:ext cx="2370666" cy="463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32E"/>
                </a:solidFill>
                <a:latin typeface="Noto Sans"/>
              </a:rPr>
              <a:t>Смета</a:t>
            </a:r>
          </a:p>
        </p:txBody>
      </p:sp>
      <p:sp>
        <p:nvSpPr>
          <p:cNvPr id="27" name="По вашим исходным данным [26]"/>
          <p:cNvSpPr txBox="1"/>
          <p:nvPr/>
        </p:nvSpPr>
        <p:spPr>
          <a:xfrm>
            <a:off x="7831666" y="4529666"/>
            <a:ext cx="2370666" cy="622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E6C5F"/>
                </a:solidFill>
                <a:latin typeface="Noto Sans"/>
              </a:rPr>
              <a:t>По вашим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E6C5F"/>
                </a:solidFill>
                <a:latin typeface="Noto Sans"/>
              </a:rPr>
              <a:t>исходным данным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Документы и таблицы для дальнейшей работы [1]"/>
          <p:cNvSpPr txBox="1"/>
          <p:nvPr/>
        </p:nvSpPr>
        <p:spPr>
          <a:xfrm>
            <a:off x="677333" y="550333"/>
            <a:ext cx="10837333" cy="12784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33"/>
              </a:lnSpc>
              <a:spcBef>
                <a:spcPts val="0"/>
              </a:spcBef>
              <a:spcAft>
                <a:spcPts val="0"/>
              </a:spcAft>
            </a:pPr>
            <a:r>
              <a:rPr sz="3866" b="1">
                <a:solidFill>
                  <a:srgbClr val="F3F6F4"/>
                </a:solidFill>
                <a:latin typeface="Noto Sans"/>
              </a:rPr>
              <a:t>Документы и таблицы</a:t>
            </a:r>
          </a:p>
          <a:p>
            <a:pPr algn="l">
              <a:lnSpc>
                <a:spcPts val="4833"/>
              </a:lnSpc>
              <a:spcBef>
                <a:spcPts val="0"/>
              </a:spcBef>
              <a:spcAft>
                <a:spcPts val="0"/>
              </a:spcAft>
            </a:pPr>
            <a:r>
              <a:rPr sz="3866" b="1">
                <a:solidFill>
                  <a:srgbClr val="F3F6F4"/>
                </a:solidFill>
                <a:latin typeface="Noto Sans"/>
              </a:rPr>
              <a:t>для дальнейшей работы</a:t>
            </a:r>
          </a:p>
        </p:txBody>
      </p:sp>
      <p:sp>
        <p:nvSpPr>
          <p:cNvPr id="3" name="poly [2]"/>
          <p:cNvSpPr/>
          <p:nvPr/>
        </p:nvSpPr>
        <p:spPr>
          <a:xfrm>
            <a:off x="772800" y="5636400"/>
            <a:ext cx="4972800" cy="184800"/>
          </a:xfrm>
          <a:custGeom>
            <a:avLst/>
            <a:gdLst/>
            <a:ahLst/>
            <a:cxnLst/>
            <a:rect l="l" t="t" r="r" b="b"/>
            <a:pathLst>
              <a:path w="59200" h="2200">
                <a:moveTo>
                  <a:pt x="0" y="0"/>
                </a:moveTo>
                <a:lnTo>
                  <a:pt x="56400" y="0"/>
                </a:lnTo>
                <a:lnTo>
                  <a:pt x="592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ly [3]"/>
          <p:cNvSpPr/>
          <p:nvPr/>
        </p:nvSpPr>
        <p:spPr>
          <a:xfrm>
            <a:off x="5191200" y="2335200"/>
            <a:ext cx="117600" cy="3351600"/>
          </a:xfrm>
          <a:custGeom>
            <a:avLst/>
            <a:gdLst/>
            <a:ahLst/>
            <a:cxnLst/>
            <a:rect l="l" t="t" r="r" b="b"/>
            <a:pathLst>
              <a:path w="1400" h="39900">
                <a:moveTo>
                  <a:pt x="0" y="0"/>
                </a:moveTo>
                <a:lnTo>
                  <a:pt x="1400" y="1400"/>
                </a:lnTo>
                <a:lnTo>
                  <a:pt x="1400" y="39900"/>
                </a:lnTo>
                <a:lnTo>
                  <a:pt x="0" y="385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ly [4]"/>
          <p:cNvSpPr/>
          <p:nvPr/>
        </p:nvSpPr>
        <p:spPr>
          <a:xfrm>
            <a:off x="672000" y="5569200"/>
            <a:ext cx="4636800" cy="117600"/>
          </a:xfrm>
          <a:custGeom>
            <a:avLst/>
            <a:gdLst/>
            <a:ahLst/>
            <a:cxnLst/>
            <a:rect l="l" t="t" r="r" b="b"/>
            <a:pathLst>
              <a:path w="55200" h="1400">
                <a:moveTo>
                  <a:pt x="0" y="0"/>
                </a:moveTo>
                <a:lnTo>
                  <a:pt x="53800" y="0"/>
                </a:lnTo>
                <a:lnTo>
                  <a:pt x="55200" y="1400"/>
                </a:lnTo>
                <a:lnTo>
                  <a:pt x="1400" y="14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672000" y="2335200"/>
            <a:ext cx="4519200" cy="3234000"/>
          </a:xfrm>
          <a:custGeom>
            <a:avLst/>
            <a:gdLst/>
            <a:ahLst/>
            <a:cxnLst/>
            <a:rect l="l" t="t" r="r" b="b"/>
            <a:pathLst>
              <a:path w="53800" h="38500">
                <a:moveTo>
                  <a:pt x="0" y="0"/>
                </a:moveTo>
                <a:lnTo>
                  <a:pt x="49300" y="0"/>
                </a:lnTo>
                <a:lnTo>
                  <a:pt x="53800" y="4500"/>
                </a:lnTo>
                <a:lnTo>
                  <a:pt x="53800" y="38500"/>
                </a:lnTo>
                <a:lnTo>
                  <a:pt x="0" y="38500"/>
                </a:lnTo>
                <a:close/>
              </a:path>
            </a:pathLst>
          </a:cu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4813200" y="23352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Предложение [7]"/>
          <p:cNvSpPr txBox="1"/>
          <p:nvPr/>
        </p:nvSpPr>
        <p:spPr>
          <a:xfrm>
            <a:off x="965200" y="2616200"/>
            <a:ext cx="3869266" cy="431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32E"/>
                </a:solidFill>
                <a:latin typeface="Noto Sans"/>
              </a:rPr>
              <a:t>Предложение</a:t>
            </a:r>
          </a:p>
        </p:txBody>
      </p:sp>
      <p:sp>
        <p:nvSpPr>
          <p:cNvPr id="9" name="Состав работ [8]"/>
          <p:cNvSpPr txBox="1"/>
          <p:nvPr/>
        </p:nvSpPr>
        <p:spPr>
          <a:xfrm>
            <a:off x="965200" y="3361266"/>
            <a:ext cx="3725333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17332E"/>
                </a:solidFill>
                <a:latin typeface="Noto Sans"/>
              </a:rPr>
              <a:t>Состав работ</a:t>
            </a:r>
          </a:p>
        </p:txBody>
      </p:sp>
      <p:sp>
        <p:nvSpPr>
          <p:cNvPr id="10" name="Сроки и условия [9]"/>
          <p:cNvSpPr txBox="1"/>
          <p:nvPr/>
        </p:nvSpPr>
        <p:spPr>
          <a:xfrm>
            <a:off x="965200" y="3920066"/>
            <a:ext cx="3725333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17332E"/>
                </a:solidFill>
                <a:latin typeface="Noto Sans"/>
              </a:rPr>
              <a:t>Сроки и условия</a:t>
            </a:r>
          </a:p>
        </p:txBody>
      </p:sp>
      <p:sp>
        <p:nvSpPr>
          <p:cNvPr id="11" name="Ваши формулировки [10]"/>
          <p:cNvSpPr txBox="1"/>
          <p:nvPr/>
        </p:nvSpPr>
        <p:spPr>
          <a:xfrm>
            <a:off x="965200" y="4478866"/>
            <a:ext cx="3725333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17332E"/>
                </a:solidFill>
                <a:latin typeface="Noto Sans"/>
              </a:rPr>
              <a:t>Ваши формулировки</a:t>
            </a:r>
          </a:p>
        </p:txBody>
      </p:sp>
      <p:sp>
        <p:nvSpPr>
          <p:cNvPr id="12" name="poly [11]"/>
          <p:cNvSpPr/>
          <p:nvPr/>
        </p:nvSpPr>
        <p:spPr>
          <a:xfrm>
            <a:off x="6241200" y="5636400"/>
            <a:ext cx="5594400" cy="184800"/>
          </a:xfrm>
          <a:custGeom>
            <a:avLst/>
            <a:gdLst/>
            <a:ahLst/>
            <a:cxnLst/>
            <a:rect l="l" t="t" r="r" b="b"/>
            <a:pathLst>
              <a:path w="66600" h="2200">
                <a:moveTo>
                  <a:pt x="0" y="0"/>
                </a:moveTo>
                <a:lnTo>
                  <a:pt x="63800" y="0"/>
                </a:lnTo>
                <a:lnTo>
                  <a:pt x="666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y [12]"/>
          <p:cNvSpPr/>
          <p:nvPr/>
        </p:nvSpPr>
        <p:spPr>
          <a:xfrm>
            <a:off x="11281200" y="2108400"/>
            <a:ext cx="117600" cy="3578400"/>
          </a:xfrm>
          <a:custGeom>
            <a:avLst/>
            <a:gdLst/>
            <a:ahLst/>
            <a:cxnLst/>
            <a:rect l="l" t="t" r="r" b="b"/>
            <a:pathLst>
              <a:path w="1400" h="42600">
                <a:moveTo>
                  <a:pt x="0" y="0"/>
                </a:moveTo>
                <a:lnTo>
                  <a:pt x="1400" y="1400"/>
                </a:lnTo>
                <a:lnTo>
                  <a:pt x="1400" y="42600"/>
                </a:lnTo>
                <a:lnTo>
                  <a:pt x="0" y="412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ly [13]"/>
          <p:cNvSpPr/>
          <p:nvPr/>
        </p:nvSpPr>
        <p:spPr>
          <a:xfrm>
            <a:off x="6140400" y="5569200"/>
            <a:ext cx="5258400" cy="117600"/>
          </a:xfrm>
          <a:custGeom>
            <a:avLst/>
            <a:gdLst/>
            <a:ahLst/>
            <a:cxnLst/>
            <a:rect l="l" t="t" r="r" b="b"/>
            <a:pathLst>
              <a:path w="62600" h="1400">
                <a:moveTo>
                  <a:pt x="0" y="0"/>
                </a:moveTo>
                <a:lnTo>
                  <a:pt x="61200" y="0"/>
                </a:lnTo>
                <a:lnTo>
                  <a:pt x="62600" y="1400"/>
                </a:lnTo>
                <a:lnTo>
                  <a:pt x="1400" y="14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ly [14]"/>
          <p:cNvSpPr/>
          <p:nvPr/>
        </p:nvSpPr>
        <p:spPr>
          <a:xfrm>
            <a:off x="6140400" y="2108400"/>
            <a:ext cx="5140800" cy="3460800"/>
          </a:xfrm>
          <a:custGeom>
            <a:avLst/>
            <a:gdLst/>
            <a:ahLst/>
            <a:cxnLst/>
            <a:rect l="l" t="t" r="r" b="b"/>
            <a:pathLst>
              <a:path w="61200" h="41200">
                <a:moveTo>
                  <a:pt x="0" y="0"/>
                </a:moveTo>
                <a:lnTo>
                  <a:pt x="56700" y="0"/>
                </a:lnTo>
                <a:lnTo>
                  <a:pt x="61200" y="4500"/>
                </a:lnTo>
                <a:lnTo>
                  <a:pt x="61200" y="41200"/>
                </a:lnTo>
                <a:lnTo>
                  <a:pt x="0" y="41200"/>
                </a:lnTo>
                <a:close/>
              </a:path>
            </a:pathLst>
          </a:custGeom>
          <a:solidFill>
            <a:srgbClr val="C6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y [15]"/>
          <p:cNvSpPr/>
          <p:nvPr/>
        </p:nvSpPr>
        <p:spPr>
          <a:xfrm>
            <a:off x="10903200" y="21084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Смета [16]"/>
          <p:cNvSpPr txBox="1"/>
          <p:nvPr/>
        </p:nvSpPr>
        <p:spPr>
          <a:xfrm>
            <a:off x="6477000" y="2387600"/>
            <a:ext cx="4402666" cy="431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32E"/>
                </a:solidFill>
                <a:latin typeface="Noto Sans"/>
              </a:rPr>
              <a:t>Смета</a:t>
            </a:r>
          </a:p>
        </p:txBody>
      </p:sp>
      <p:sp>
        <p:nvSpPr>
          <p:cNvPr id="18" name="rect [17]"/>
          <p:cNvSpPr/>
          <p:nvPr/>
        </p:nvSpPr>
        <p:spPr>
          <a:xfrm>
            <a:off x="6460066" y="3090333"/>
            <a:ext cx="4648200" cy="753533"/>
          </a:xfrm>
          <a:prstGeom prst="roundRect">
            <a:avLst>
              <a:gd name="adj" fmla="val 8988"/>
            </a:avLst>
          </a:prstGeom>
          <a:solidFill>
            <a:srgbClr val="B1D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Количество × Цена [18]"/>
          <p:cNvSpPr txBox="1"/>
          <p:nvPr/>
        </p:nvSpPr>
        <p:spPr>
          <a:xfrm>
            <a:off x="6680200" y="3293533"/>
            <a:ext cx="4233333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32E"/>
                </a:solidFill>
                <a:latin typeface="Noto Sans"/>
              </a:rPr>
              <a:t>Количество × Цена</a:t>
            </a:r>
          </a:p>
        </p:txBody>
      </p:sp>
      <p:sp>
        <p:nvSpPr>
          <p:cNvPr id="20" name="Формулы и источники [19]"/>
          <p:cNvSpPr txBox="1"/>
          <p:nvPr/>
        </p:nvSpPr>
        <p:spPr>
          <a:xfrm>
            <a:off x="6477000" y="4165600"/>
            <a:ext cx="4402666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17332E"/>
                </a:solidFill>
                <a:latin typeface="Noto Sans"/>
              </a:rPr>
              <a:t>Формулы и источники</a:t>
            </a:r>
          </a:p>
        </p:txBody>
      </p:sp>
      <p:sp>
        <p:nvSpPr>
          <p:cNvPr id="21" name="Связанные значения [20]"/>
          <p:cNvSpPr txBox="1"/>
          <p:nvPr/>
        </p:nvSpPr>
        <p:spPr>
          <a:xfrm>
            <a:off x="6477000" y="4656666"/>
            <a:ext cx="4402666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17332E"/>
                </a:solidFill>
                <a:latin typeface="Noto Sans"/>
              </a:rPr>
              <a:t>Связанные значения</a:t>
            </a:r>
          </a:p>
        </p:txBody>
      </p:sp>
      <p:sp>
        <p:nvSpPr>
          <p:cNvPr id="22" name="Редактируйте нужную часть. Версии и основания остаются рядом. [21]"/>
          <p:cNvSpPr txBox="1"/>
          <p:nvPr/>
        </p:nvSpPr>
        <p:spPr>
          <a:xfrm>
            <a:off x="677333" y="6096000"/>
            <a:ext cx="10837333" cy="336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FC4"/>
                </a:solidFill>
                <a:latin typeface="Noto Sans"/>
              </a:rPr>
              <a:t>Редактируйте нужную часть. Версии и основания остаются рядом.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Сроки и деньги проверяются до решения [1]"/>
          <p:cNvSpPr txBox="1"/>
          <p:nvPr/>
        </p:nvSpPr>
        <p:spPr>
          <a:xfrm>
            <a:off x="677333" y="694266"/>
            <a:ext cx="5503333" cy="195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Сроки и деньги</a:t>
            </a:r>
          </a:p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проверяются</a:t>
            </a:r>
          </a:p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до решения</a:t>
            </a:r>
          </a:p>
        </p:txBody>
      </p:sp>
      <p:sp>
        <p:nvSpPr>
          <p:cNvPr id="3" name="Загрузка ресурсов, полные условия поставщиков и денежные обязательства [2]"/>
          <p:cNvSpPr txBox="1"/>
          <p:nvPr/>
        </p:nvSpPr>
        <p:spPr>
          <a:xfrm>
            <a:off x="677333" y="3107266"/>
            <a:ext cx="5503333" cy="939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B7CFC4"/>
                </a:solidFill>
                <a:latin typeface="Noto Sans"/>
              </a:rPr>
              <a:t>Загрузка ресурсов, полные условия</a:t>
            </a:r>
          </a:p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B7CFC4"/>
                </a:solidFill>
                <a:latin typeface="Noto Sans"/>
              </a:rPr>
              <a:t>поставщиков и денежные обязательства</a:t>
            </a:r>
          </a:p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B7CFC4"/>
                </a:solidFill>
                <a:latin typeface="Noto Sans"/>
              </a:rPr>
              <a:t>учитываются в одной работе.</a:t>
            </a:r>
          </a:p>
        </p:txBody>
      </p:sp>
      <p:sp>
        <p:nvSpPr>
          <p:cNvPr id="4" name="Прогноз опирается на пригодную историю. [3]"/>
          <p:cNvSpPr txBox="1"/>
          <p:nvPr/>
        </p:nvSpPr>
        <p:spPr>
          <a:xfrm>
            <a:off x="677333" y="5147733"/>
            <a:ext cx="4826000" cy="622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FC4"/>
                </a:solidFill>
                <a:latin typeface="Noto Sans"/>
              </a:rPr>
              <a:t>Прогноз опирается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FC4"/>
                </a:solidFill>
                <a:latin typeface="Noto Sans"/>
              </a:rPr>
              <a:t>на пригодную историю.</a:t>
            </a:r>
          </a:p>
        </p:txBody>
      </p:sp>
      <p:sp>
        <p:nvSpPr>
          <p:cNvPr id="5" name="poly [4]"/>
          <p:cNvSpPr/>
          <p:nvPr/>
        </p:nvSpPr>
        <p:spPr>
          <a:xfrm>
            <a:off x="7257600" y="5443200"/>
            <a:ext cx="4334400" cy="184800"/>
          </a:xfrm>
          <a:custGeom>
            <a:avLst/>
            <a:gdLst/>
            <a:ahLst/>
            <a:cxnLst/>
            <a:rect l="l" t="t" r="r" b="b"/>
            <a:pathLst>
              <a:path w="51600" h="2200">
                <a:moveTo>
                  <a:pt x="0" y="0"/>
                </a:moveTo>
                <a:lnTo>
                  <a:pt x="48800" y="0"/>
                </a:lnTo>
                <a:lnTo>
                  <a:pt x="516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11037600" y="1100400"/>
            <a:ext cx="117600" cy="4393200"/>
          </a:xfrm>
          <a:custGeom>
            <a:avLst/>
            <a:gdLst/>
            <a:ahLst/>
            <a:cxnLst/>
            <a:rect l="l" t="t" r="r" b="b"/>
            <a:pathLst>
              <a:path w="1400" h="52300">
                <a:moveTo>
                  <a:pt x="0" y="0"/>
                </a:moveTo>
                <a:lnTo>
                  <a:pt x="1400" y="1400"/>
                </a:lnTo>
                <a:lnTo>
                  <a:pt x="1400" y="52300"/>
                </a:lnTo>
                <a:lnTo>
                  <a:pt x="0" y="509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7156800" y="5376000"/>
            <a:ext cx="3998400" cy="117600"/>
          </a:xfrm>
          <a:custGeom>
            <a:avLst/>
            <a:gdLst/>
            <a:ahLst/>
            <a:cxnLst/>
            <a:rect l="l" t="t" r="r" b="b"/>
            <a:pathLst>
              <a:path w="47600" h="1400">
                <a:moveTo>
                  <a:pt x="0" y="0"/>
                </a:moveTo>
                <a:lnTo>
                  <a:pt x="46200" y="0"/>
                </a:lnTo>
                <a:lnTo>
                  <a:pt x="47600" y="1400"/>
                </a:lnTo>
                <a:lnTo>
                  <a:pt x="1400" y="14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7156800" y="1100400"/>
            <a:ext cx="3880800" cy="4275600"/>
          </a:xfrm>
          <a:custGeom>
            <a:avLst/>
            <a:gdLst/>
            <a:ahLst/>
            <a:cxnLst/>
            <a:rect l="l" t="t" r="r" b="b"/>
            <a:pathLst>
              <a:path w="46200" h="50900">
                <a:moveTo>
                  <a:pt x="0" y="0"/>
                </a:moveTo>
                <a:lnTo>
                  <a:pt x="41700" y="0"/>
                </a:lnTo>
                <a:lnTo>
                  <a:pt x="46200" y="4500"/>
                </a:lnTo>
                <a:lnTo>
                  <a:pt x="46200" y="50900"/>
                </a:lnTo>
                <a:lnTo>
                  <a:pt x="0" y="50900"/>
                </a:lnTo>
                <a:close/>
              </a:path>
            </a:pathLst>
          </a:custGeom>
          <a:solidFill>
            <a:srgbClr val="B3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ly [8]"/>
          <p:cNvSpPr/>
          <p:nvPr/>
        </p:nvSpPr>
        <p:spPr>
          <a:xfrm>
            <a:off x="10659600" y="11004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План работы [9]"/>
          <p:cNvSpPr txBox="1"/>
          <p:nvPr/>
        </p:nvSpPr>
        <p:spPr>
          <a:xfrm>
            <a:off x="7493000" y="1380066"/>
            <a:ext cx="3327400" cy="431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32E"/>
                </a:solidFill>
                <a:latin typeface="Noto Sans"/>
              </a:rPr>
              <a:t>План работы</a:t>
            </a:r>
          </a:p>
        </p:txBody>
      </p:sp>
      <p:sp>
        <p:nvSpPr>
          <p:cNvPr id="11" name="Ресурсы и ограничения [10]"/>
          <p:cNvSpPr txBox="1"/>
          <p:nvPr/>
        </p:nvSpPr>
        <p:spPr>
          <a:xfrm>
            <a:off x="7493000" y="2082800"/>
            <a:ext cx="3327400" cy="315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3"/>
              </a:lnSpc>
              <a:spcBef>
                <a:spcPts val="0"/>
              </a:spcBef>
              <a:spcAft>
                <a:spcPts val="0"/>
              </a:spcAft>
            </a:pPr>
            <a:r>
              <a:rPr sz="1666" b="0">
                <a:solidFill>
                  <a:srgbClr val="17332E"/>
                </a:solidFill>
                <a:latin typeface="Noto Sans"/>
              </a:rPr>
              <a:t>Ресурсы и ограничения</a:t>
            </a:r>
          </a:p>
        </p:txBody>
      </p:sp>
      <p:sp>
        <p:nvSpPr>
          <p:cNvPr id="12" name="Рабочее время [11]"/>
          <p:cNvSpPr txBox="1"/>
          <p:nvPr/>
        </p:nvSpPr>
        <p:spPr>
          <a:xfrm>
            <a:off x="7493000" y="2683933"/>
            <a:ext cx="3327400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Рабочее время</a:t>
            </a:r>
          </a:p>
        </p:txBody>
      </p:sp>
      <p:sp>
        <p:nvSpPr>
          <p:cNvPr id="13" name="Загрузка [12]"/>
          <p:cNvSpPr txBox="1"/>
          <p:nvPr/>
        </p:nvSpPr>
        <p:spPr>
          <a:xfrm>
            <a:off x="7493000" y="3335866"/>
            <a:ext cx="3327400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Загрузка</a:t>
            </a:r>
          </a:p>
        </p:txBody>
      </p:sp>
      <p:sp>
        <p:nvSpPr>
          <p:cNvPr id="14" name="Закрепления [13]"/>
          <p:cNvSpPr txBox="1"/>
          <p:nvPr/>
        </p:nvSpPr>
        <p:spPr>
          <a:xfrm>
            <a:off x="7493000" y="3987800"/>
            <a:ext cx="3327400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Закрепления</a:t>
            </a:r>
          </a:p>
        </p:txBody>
      </p:sp>
      <p:sp>
        <p:nvSpPr>
          <p:cNvPr id="15" name="Доступность и сроки [14]"/>
          <p:cNvSpPr txBox="1"/>
          <p:nvPr/>
        </p:nvSpPr>
        <p:spPr>
          <a:xfrm>
            <a:off x="7493000" y="4724400"/>
            <a:ext cx="3327400" cy="315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3"/>
              </a:lnSpc>
              <a:spcBef>
                <a:spcPts val="0"/>
              </a:spcBef>
              <a:spcAft>
                <a:spcPts val="0"/>
              </a:spcAft>
            </a:pPr>
            <a:r>
              <a:rPr sz="1666" b="0">
                <a:solidFill>
                  <a:srgbClr val="17332E"/>
                </a:solidFill>
                <a:latin typeface="Noto Sans"/>
              </a:rPr>
              <a:t>Доступность и сроки</a:t>
            </a:r>
          </a:p>
        </p:txBody>
      </p:sp>
      <p:sp>
        <p:nvSpPr>
          <p:cNvPr id="16" name="poly [15]"/>
          <p:cNvSpPr/>
          <p:nvPr/>
        </p:nvSpPr>
        <p:spPr>
          <a:xfrm>
            <a:off x="6258000" y="6207600"/>
            <a:ext cx="3460800" cy="184800"/>
          </a:xfrm>
          <a:custGeom>
            <a:avLst/>
            <a:gdLst/>
            <a:ahLst/>
            <a:cxnLst/>
            <a:rect l="l" t="t" r="r" b="b"/>
            <a:pathLst>
              <a:path w="41200" h="2200">
                <a:moveTo>
                  <a:pt x="0" y="0"/>
                </a:moveTo>
                <a:lnTo>
                  <a:pt x="38400" y="0"/>
                </a:lnTo>
                <a:lnTo>
                  <a:pt x="412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ly [16]"/>
          <p:cNvSpPr/>
          <p:nvPr/>
        </p:nvSpPr>
        <p:spPr>
          <a:xfrm>
            <a:off x="9198000" y="5065200"/>
            <a:ext cx="84000" cy="1159200"/>
          </a:xfrm>
          <a:custGeom>
            <a:avLst/>
            <a:gdLst/>
            <a:ahLst/>
            <a:cxnLst/>
            <a:rect l="l" t="t" r="r" b="b"/>
            <a:pathLst>
              <a:path w="1000" h="13800">
                <a:moveTo>
                  <a:pt x="0" y="0"/>
                </a:moveTo>
                <a:lnTo>
                  <a:pt x="1000" y="1000"/>
                </a:lnTo>
                <a:lnTo>
                  <a:pt x="1000" y="13800"/>
                </a:lnTo>
                <a:lnTo>
                  <a:pt x="0" y="128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y [17]"/>
          <p:cNvSpPr/>
          <p:nvPr/>
        </p:nvSpPr>
        <p:spPr>
          <a:xfrm>
            <a:off x="6157200" y="6140400"/>
            <a:ext cx="3124800" cy="84000"/>
          </a:xfrm>
          <a:custGeom>
            <a:avLst/>
            <a:gdLst/>
            <a:ahLst/>
            <a:cxnLst/>
            <a:rect l="l" t="t" r="r" b="b"/>
            <a:pathLst>
              <a:path w="37200" h="1000">
                <a:moveTo>
                  <a:pt x="0" y="0"/>
                </a:moveTo>
                <a:lnTo>
                  <a:pt x="36200" y="0"/>
                </a:lnTo>
                <a:lnTo>
                  <a:pt x="37200" y="1000"/>
                </a:lnTo>
                <a:lnTo>
                  <a:pt x="1000" y="10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 [18]"/>
          <p:cNvSpPr/>
          <p:nvPr/>
        </p:nvSpPr>
        <p:spPr>
          <a:xfrm>
            <a:off x="6206066" y="5105400"/>
            <a:ext cx="3064933" cy="1083733"/>
          </a:xfrm>
          <a:prstGeom prst="roundRect">
            <a:avLst>
              <a:gd name="adj" fmla="val 9375"/>
            </a:avLst>
          </a:prstGeom>
          <a:solidFill>
            <a:srgbClr val="D68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Условия закупки [19]"/>
          <p:cNvSpPr txBox="1"/>
          <p:nvPr/>
        </p:nvSpPr>
        <p:spPr>
          <a:xfrm>
            <a:off x="6451600" y="5427133"/>
            <a:ext cx="2590800" cy="357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1">
                <a:solidFill>
                  <a:srgbClr val="17332E"/>
                </a:solidFill>
                <a:latin typeface="Noto Sans"/>
              </a:rPr>
              <a:t>Условия закупки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[1]" descr="campaign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Кампания собирается из ваших материалов [2]"/>
          <p:cNvSpPr txBox="1"/>
          <p:nvPr/>
        </p:nvSpPr>
        <p:spPr>
          <a:xfrm>
            <a:off x="677333" y="533400"/>
            <a:ext cx="10075333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Кампания собирается</a:t>
            </a:r>
          </a:p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из ваших материалов</a:t>
            </a:r>
          </a:p>
        </p:txBody>
      </p:sp>
      <p:sp>
        <p:nvSpPr>
          <p:cNvPr id="4" name="Макеты разных форматов, тексты и план публикаций используют общие усло [3]"/>
          <p:cNvSpPr txBox="1"/>
          <p:nvPr/>
        </p:nvSpPr>
        <p:spPr>
          <a:xfrm>
            <a:off x="677333" y="2472266"/>
            <a:ext cx="5672666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Макеты разных форматов, тексты</a:t>
            </a:r>
          </a:p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и план публикаций используют</a:t>
            </a:r>
          </a:p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общие условия и стиль.</a:t>
            </a:r>
          </a:p>
        </p:txBody>
      </p:sp>
      <p:sp>
        <p:nvSpPr>
          <p:cNvPr id="5" name="Текст, изображения и фигуры можно менять по отдельности. [4]"/>
          <p:cNvSpPr txBox="1"/>
          <p:nvPr/>
        </p:nvSpPr>
        <p:spPr>
          <a:xfrm>
            <a:off x="677333" y="4995333"/>
            <a:ext cx="5672666" cy="6434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F3F6F4"/>
                </a:solidFill>
                <a:latin typeface="Noto Sans"/>
              </a:rPr>
              <a:t>Текст, изображения и фигуры</a:t>
            </a:r>
          </a:p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F3F6F4"/>
                </a:solidFill>
                <a:latin typeface="Noto Sans"/>
              </a:rPr>
              <a:t>можно менять по отдельности.</a:t>
            </a:r>
          </a:p>
        </p:txBody>
      </p:sp>
      <p:sp>
        <p:nvSpPr>
          <p:cNvPr id="6" name="poly [5]"/>
          <p:cNvSpPr/>
          <p:nvPr/>
        </p:nvSpPr>
        <p:spPr>
          <a:xfrm>
            <a:off x="7148400" y="5712000"/>
            <a:ext cx="3754800" cy="184800"/>
          </a:xfrm>
          <a:custGeom>
            <a:avLst/>
            <a:gdLst/>
            <a:ahLst/>
            <a:cxnLst/>
            <a:rect l="l" t="t" r="r" b="b"/>
            <a:pathLst>
              <a:path w="44700" h="2200">
                <a:moveTo>
                  <a:pt x="0" y="0"/>
                </a:moveTo>
                <a:lnTo>
                  <a:pt x="41900" y="0"/>
                </a:lnTo>
                <a:lnTo>
                  <a:pt x="447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10357200" y="2503200"/>
            <a:ext cx="109200" cy="3250800"/>
          </a:xfrm>
          <a:custGeom>
            <a:avLst/>
            <a:gdLst/>
            <a:ahLst/>
            <a:cxnLst/>
            <a:rect l="l" t="t" r="r" b="b"/>
            <a:pathLst>
              <a:path w="1300" h="38700">
                <a:moveTo>
                  <a:pt x="0" y="0"/>
                </a:moveTo>
                <a:lnTo>
                  <a:pt x="1300" y="1300"/>
                </a:lnTo>
                <a:lnTo>
                  <a:pt x="1300" y="38700"/>
                </a:lnTo>
                <a:lnTo>
                  <a:pt x="0" y="374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7047600" y="5644800"/>
            <a:ext cx="3418800" cy="109200"/>
          </a:xfrm>
          <a:custGeom>
            <a:avLst/>
            <a:gdLst/>
            <a:ahLst/>
            <a:cxnLst/>
            <a:rect l="l" t="t" r="r" b="b"/>
            <a:pathLst>
              <a:path w="40700" h="1300">
                <a:moveTo>
                  <a:pt x="0" y="0"/>
                </a:moveTo>
                <a:lnTo>
                  <a:pt x="39400" y="0"/>
                </a:lnTo>
                <a:lnTo>
                  <a:pt x="40700" y="1300"/>
                </a:lnTo>
                <a:lnTo>
                  <a:pt x="1300" y="13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 [8]"/>
          <p:cNvSpPr/>
          <p:nvPr/>
        </p:nvSpPr>
        <p:spPr>
          <a:xfrm>
            <a:off x="7103533" y="2523066"/>
            <a:ext cx="3335866" cy="3166533"/>
          </a:xfrm>
          <a:prstGeom prst="roundRect">
            <a:avLst>
              <a:gd name="adj" fmla="val 3208"/>
            </a:avLst>
          </a:prstGeom>
          <a:solidFill>
            <a:srgbClr val="12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 [9]"/>
          <p:cNvSpPr/>
          <p:nvPr/>
        </p:nvSpPr>
        <p:spPr>
          <a:xfrm>
            <a:off x="7408333" y="2794000"/>
            <a:ext cx="1298786" cy="396240"/>
          </a:xfrm>
          <a:prstGeom prst="roundRect">
            <a:avLst>
              <a:gd name="adj" fmla="val 25000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 [10]"/>
          <p:cNvSpPr/>
          <p:nvPr/>
        </p:nvSpPr>
        <p:spPr>
          <a:xfrm>
            <a:off x="7837593" y="3091180"/>
            <a:ext cx="396240" cy="891539"/>
          </a:xfrm>
          <a:prstGeom prst="roundRect">
            <a:avLst>
              <a:gd name="adj" fmla="val 25000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 [11]"/>
          <p:cNvSpPr/>
          <p:nvPr/>
        </p:nvSpPr>
        <p:spPr>
          <a:xfrm>
            <a:off x="8398933" y="3344333"/>
            <a:ext cx="308186" cy="308186"/>
          </a:xfrm>
          <a:prstGeom prst="roundRect">
            <a:avLst>
              <a:gd name="adj" fmla="val 21428"/>
            </a:avLst>
          </a:prstGeom>
          <a:solidFill>
            <a:srgbClr val="D7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 [12]"/>
          <p:cNvSpPr/>
          <p:nvPr/>
        </p:nvSpPr>
        <p:spPr>
          <a:xfrm>
            <a:off x="7991686" y="2794000"/>
            <a:ext cx="77046" cy="396240"/>
          </a:xfrm>
          <a:prstGeom prst="rect">
            <a:avLst/>
          </a:prstGeom>
          <a:solidFill>
            <a:srgbClr val="08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rlik [13]"/>
          <p:cNvSpPr txBox="1"/>
          <p:nvPr/>
        </p:nvSpPr>
        <p:spPr>
          <a:xfrm>
            <a:off x="7408333" y="4309533"/>
            <a:ext cx="2667000" cy="611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533" b="1">
                <a:solidFill>
                  <a:srgbClr val="F3F6F4"/>
                </a:solidFill>
                <a:latin typeface="Noto Sans"/>
              </a:rPr>
              <a:t>Tirlik</a:t>
            </a:r>
          </a:p>
        </p:txBody>
      </p:sp>
      <p:sp>
        <p:nvSpPr>
          <p:cNvPr id="15" name="Всё для вашего бизнеса [14]"/>
          <p:cNvSpPr txBox="1"/>
          <p:nvPr/>
        </p:nvSpPr>
        <p:spPr>
          <a:xfrm>
            <a:off x="7408333" y="5046133"/>
            <a:ext cx="2667000" cy="273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F6F4"/>
                </a:solidFill>
                <a:latin typeface="Noto Sans"/>
              </a:rPr>
              <a:t>Всё для вашего бизнеса</a:t>
            </a:r>
          </a:p>
        </p:txBody>
      </p:sp>
      <p:sp>
        <p:nvSpPr>
          <p:cNvPr id="16" name="poly [15]"/>
          <p:cNvSpPr/>
          <p:nvPr/>
        </p:nvSpPr>
        <p:spPr>
          <a:xfrm>
            <a:off x="10122000" y="6048000"/>
            <a:ext cx="1705200" cy="184800"/>
          </a:xfrm>
          <a:custGeom>
            <a:avLst/>
            <a:gdLst/>
            <a:ahLst/>
            <a:cxnLst/>
            <a:rect l="l" t="t" r="r" b="b"/>
            <a:pathLst>
              <a:path w="20300" h="2200">
                <a:moveTo>
                  <a:pt x="0" y="0"/>
                </a:moveTo>
                <a:lnTo>
                  <a:pt x="17500" y="0"/>
                </a:lnTo>
                <a:lnTo>
                  <a:pt x="20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ly [16]"/>
          <p:cNvSpPr/>
          <p:nvPr/>
        </p:nvSpPr>
        <p:spPr>
          <a:xfrm>
            <a:off x="11298000" y="3385200"/>
            <a:ext cx="92400" cy="2688000"/>
          </a:xfrm>
          <a:custGeom>
            <a:avLst/>
            <a:gdLst/>
            <a:ahLst/>
            <a:cxnLst/>
            <a:rect l="l" t="t" r="r" b="b"/>
            <a:pathLst>
              <a:path w="1100" h="32000">
                <a:moveTo>
                  <a:pt x="0" y="0"/>
                </a:moveTo>
                <a:lnTo>
                  <a:pt x="1100" y="1100"/>
                </a:lnTo>
                <a:lnTo>
                  <a:pt x="1100" y="32000"/>
                </a:lnTo>
                <a:lnTo>
                  <a:pt x="0" y="309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y [17]"/>
          <p:cNvSpPr/>
          <p:nvPr/>
        </p:nvSpPr>
        <p:spPr>
          <a:xfrm>
            <a:off x="10021200" y="5980800"/>
            <a:ext cx="1369200" cy="92400"/>
          </a:xfrm>
          <a:custGeom>
            <a:avLst/>
            <a:gdLst/>
            <a:ahLst/>
            <a:cxnLst/>
            <a:rect l="l" t="t" r="r" b="b"/>
            <a:pathLst>
              <a:path w="16300" h="1100">
                <a:moveTo>
                  <a:pt x="0" y="0"/>
                </a:moveTo>
                <a:lnTo>
                  <a:pt x="15200" y="0"/>
                </a:lnTo>
                <a:lnTo>
                  <a:pt x="16300" y="1100"/>
                </a:lnTo>
                <a:lnTo>
                  <a:pt x="1100" y="11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 [18]"/>
          <p:cNvSpPr/>
          <p:nvPr/>
        </p:nvSpPr>
        <p:spPr>
          <a:xfrm>
            <a:off x="10100733" y="3412066"/>
            <a:ext cx="1286933" cy="2616200"/>
          </a:xfrm>
          <a:prstGeom prst="roundRect">
            <a:avLst>
              <a:gd name="adj" fmla="val 7894"/>
            </a:avLst>
          </a:prstGeom>
          <a:solidFill>
            <a:srgbClr val="BF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 [19]"/>
          <p:cNvSpPr/>
          <p:nvPr/>
        </p:nvSpPr>
        <p:spPr>
          <a:xfrm>
            <a:off x="10278533" y="3657600"/>
            <a:ext cx="849206" cy="259079"/>
          </a:xfrm>
          <a:prstGeom prst="roundRect">
            <a:avLst>
              <a:gd name="adj" fmla="val 25000"/>
            </a:avLst>
          </a:prstGeom>
          <a:solidFill>
            <a:srgbClr val="17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 [20]"/>
          <p:cNvSpPr/>
          <p:nvPr/>
        </p:nvSpPr>
        <p:spPr>
          <a:xfrm>
            <a:off x="10559203" y="3851909"/>
            <a:ext cx="259079" cy="582929"/>
          </a:xfrm>
          <a:prstGeom prst="roundRect">
            <a:avLst>
              <a:gd name="adj" fmla="val 25000"/>
            </a:avLst>
          </a:prstGeom>
          <a:solidFill>
            <a:srgbClr val="173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 [21]"/>
          <p:cNvSpPr/>
          <p:nvPr/>
        </p:nvSpPr>
        <p:spPr>
          <a:xfrm>
            <a:off x="10926233" y="4017433"/>
            <a:ext cx="201506" cy="201506"/>
          </a:xfrm>
          <a:prstGeom prst="roundRect">
            <a:avLst>
              <a:gd name="adj" fmla="val 21428"/>
            </a:avLst>
          </a:prstGeom>
          <a:solidFill>
            <a:srgbClr val="D7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 [22]"/>
          <p:cNvSpPr/>
          <p:nvPr/>
        </p:nvSpPr>
        <p:spPr>
          <a:xfrm>
            <a:off x="10659956" y="3657600"/>
            <a:ext cx="50376" cy="259079"/>
          </a:xfrm>
          <a:prstGeom prst="rect">
            <a:avLst/>
          </a:prstGeom>
          <a:solidFill>
            <a:srgbClr val="08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rlik [23]"/>
          <p:cNvSpPr txBox="1"/>
          <p:nvPr/>
        </p:nvSpPr>
        <p:spPr>
          <a:xfrm>
            <a:off x="10270066" y="5249333"/>
            <a:ext cx="100753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32E"/>
                </a:solidFill>
                <a:latin typeface="Noto Sans"/>
              </a:rPr>
              <a:t>Tirlik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Изменения сохраняют ваши решения [1]"/>
          <p:cNvSpPr txBox="1"/>
          <p:nvPr/>
        </p:nvSpPr>
        <p:spPr>
          <a:xfrm>
            <a:off x="677333" y="609600"/>
            <a:ext cx="10837333" cy="1363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66"/>
              </a:lnSpc>
              <a:spcBef>
                <a:spcPts val="0"/>
              </a:spcBef>
              <a:spcAft>
                <a:spcPts val="0"/>
              </a:spcAft>
            </a:pPr>
            <a:r>
              <a:rPr sz="4133" b="1">
                <a:solidFill>
                  <a:srgbClr val="F3F6F4"/>
                </a:solidFill>
                <a:latin typeface="Noto Sans"/>
              </a:rPr>
              <a:t>Изменения сохраняют</a:t>
            </a:r>
          </a:p>
          <a:p>
            <a:pPr algn="l">
              <a:lnSpc>
                <a:spcPts val="5166"/>
              </a:lnSpc>
              <a:spcBef>
                <a:spcPts val="0"/>
              </a:spcBef>
              <a:spcAft>
                <a:spcPts val="0"/>
              </a:spcAft>
            </a:pPr>
            <a:r>
              <a:rPr sz="4133" b="1">
                <a:solidFill>
                  <a:srgbClr val="F3F6F4"/>
                </a:solidFill>
                <a:latin typeface="Noto Sans"/>
              </a:rPr>
              <a:t>ваши решения</a:t>
            </a:r>
          </a:p>
        </p:txBody>
      </p:sp>
      <p:sp>
        <p:nvSpPr>
          <p:cNvPr id="3" name="Адресные правки проходят по связанным материалам. Закреплённый текст и [2]"/>
          <p:cNvSpPr txBox="1"/>
          <p:nvPr/>
        </p:nvSpPr>
        <p:spPr>
          <a:xfrm>
            <a:off x="677333" y="2794000"/>
            <a:ext cx="5503333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Адресные правки проходят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по связанным материалам.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Закреплённый текст и формулы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остаются на месте.</a:t>
            </a:r>
          </a:p>
        </p:txBody>
      </p:sp>
      <p:sp>
        <p:nvSpPr>
          <p:cNvPr id="4" name="poly [3]"/>
          <p:cNvSpPr/>
          <p:nvPr/>
        </p:nvSpPr>
        <p:spPr>
          <a:xfrm>
            <a:off x="7131600" y="5703600"/>
            <a:ext cx="4519200" cy="184800"/>
          </a:xfrm>
          <a:custGeom>
            <a:avLst/>
            <a:gdLst/>
            <a:ahLst/>
            <a:cxnLst/>
            <a:rect l="l" t="t" r="r" b="b"/>
            <a:pathLst>
              <a:path w="53800" h="2200">
                <a:moveTo>
                  <a:pt x="0" y="0"/>
                </a:moveTo>
                <a:lnTo>
                  <a:pt x="51000" y="0"/>
                </a:lnTo>
                <a:lnTo>
                  <a:pt x="538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ly [4]"/>
          <p:cNvSpPr/>
          <p:nvPr/>
        </p:nvSpPr>
        <p:spPr>
          <a:xfrm>
            <a:off x="11096400" y="2427600"/>
            <a:ext cx="117600" cy="3326400"/>
          </a:xfrm>
          <a:custGeom>
            <a:avLst/>
            <a:gdLst/>
            <a:ahLst/>
            <a:cxnLst/>
            <a:rect l="l" t="t" r="r" b="b"/>
            <a:pathLst>
              <a:path w="1400" h="39600">
                <a:moveTo>
                  <a:pt x="0" y="0"/>
                </a:moveTo>
                <a:lnTo>
                  <a:pt x="1400" y="1400"/>
                </a:lnTo>
                <a:lnTo>
                  <a:pt x="1400" y="39600"/>
                </a:lnTo>
                <a:lnTo>
                  <a:pt x="0" y="382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7030800" y="5636400"/>
            <a:ext cx="4183200" cy="117600"/>
          </a:xfrm>
          <a:custGeom>
            <a:avLst/>
            <a:gdLst/>
            <a:ahLst/>
            <a:cxnLst/>
            <a:rect l="l" t="t" r="r" b="b"/>
            <a:pathLst>
              <a:path w="49800" h="1400">
                <a:moveTo>
                  <a:pt x="0" y="0"/>
                </a:moveTo>
                <a:lnTo>
                  <a:pt x="48400" y="0"/>
                </a:lnTo>
                <a:lnTo>
                  <a:pt x="49800" y="1400"/>
                </a:lnTo>
                <a:lnTo>
                  <a:pt x="1400" y="14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7030800" y="2427600"/>
            <a:ext cx="4065600" cy="3208800"/>
          </a:xfrm>
          <a:custGeom>
            <a:avLst/>
            <a:gdLst/>
            <a:ahLst/>
            <a:cxnLst/>
            <a:rect l="l" t="t" r="r" b="b"/>
            <a:pathLst>
              <a:path w="48400" h="38200">
                <a:moveTo>
                  <a:pt x="0" y="0"/>
                </a:moveTo>
                <a:lnTo>
                  <a:pt x="43900" y="0"/>
                </a:lnTo>
                <a:lnTo>
                  <a:pt x="48400" y="4500"/>
                </a:lnTo>
                <a:lnTo>
                  <a:pt x="48400" y="38200"/>
                </a:lnTo>
                <a:lnTo>
                  <a:pt x="0" y="38200"/>
                </a:lnTo>
                <a:close/>
              </a:path>
            </a:pathLst>
          </a:cu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10718400" y="24276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Ваш текст [8]"/>
          <p:cNvSpPr txBox="1"/>
          <p:nvPr/>
        </p:nvSpPr>
        <p:spPr>
          <a:xfrm>
            <a:off x="7382933" y="2827866"/>
            <a:ext cx="3471333" cy="474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3"/>
              </a:lnSpc>
              <a:spcBef>
                <a:spcPts val="0"/>
              </a:spcBef>
              <a:spcAft>
                <a:spcPts val="0"/>
              </a:spcAft>
            </a:pPr>
            <a:r>
              <a:rPr sz="2666" b="1">
                <a:solidFill>
                  <a:srgbClr val="17332E"/>
                </a:solidFill>
                <a:latin typeface="Noto Sans"/>
              </a:rPr>
              <a:t>Ваш текст</a:t>
            </a:r>
          </a:p>
        </p:txBody>
      </p:sp>
      <p:sp>
        <p:nvSpPr>
          <p:cNvPr id="10" name="rect [9]"/>
          <p:cNvSpPr/>
          <p:nvPr/>
        </p:nvSpPr>
        <p:spPr>
          <a:xfrm>
            <a:off x="7357533" y="3598333"/>
            <a:ext cx="3505200" cy="778933"/>
          </a:xfrm>
          <a:prstGeom prst="roundRect">
            <a:avLst>
              <a:gd name="adj" fmla="val 8695"/>
            </a:avLst>
          </a:prstGeom>
          <a:solidFill>
            <a:srgbClr val="B8D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учная правка [10]"/>
          <p:cNvSpPr txBox="1"/>
          <p:nvPr/>
        </p:nvSpPr>
        <p:spPr>
          <a:xfrm>
            <a:off x="7603066" y="3826933"/>
            <a:ext cx="3005666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32E"/>
                </a:solidFill>
                <a:latin typeface="Noto Sans"/>
              </a:rPr>
              <a:t>Ручная правка</a:t>
            </a:r>
          </a:p>
        </p:txBody>
      </p:sp>
      <p:sp>
        <p:nvSpPr>
          <p:cNvPr id="12" name="=SUM(B2:B6) [11]"/>
          <p:cNvSpPr txBox="1"/>
          <p:nvPr/>
        </p:nvSpPr>
        <p:spPr>
          <a:xfrm>
            <a:off x="7382933" y="4783666"/>
            <a:ext cx="3471333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0">
                <a:solidFill>
                  <a:srgbClr val="17332E"/>
                </a:solidFill>
                <a:latin typeface="Noto Sans"/>
              </a:rPr>
              <a:t>=SUM(B2:B6)</a:t>
            </a:r>
          </a:p>
        </p:txBody>
      </p:sp>
      <p:sp>
        <p:nvSpPr>
          <p:cNvPr id="13" name="rect [12]"/>
          <p:cNvSpPr/>
          <p:nvPr/>
        </p:nvSpPr>
        <p:spPr>
          <a:xfrm>
            <a:off x="8847666" y="2260600"/>
            <a:ext cx="846666" cy="203200"/>
          </a:xfrm>
          <a:prstGeom prst="roundRect">
            <a:avLst>
              <a:gd name="adj" fmla="val 20833"/>
            </a:avLst>
          </a:prstGeom>
          <a:solidFill>
            <a:srgbClr val="D78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 [13]"/>
          <p:cNvSpPr/>
          <p:nvPr/>
        </p:nvSpPr>
        <p:spPr>
          <a:xfrm>
            <a:off x="9017000" y="2379133"/>
            <a:ext cx="508000" cy="194733"/>
          </a:xfrm>
          <a:prstGeom prst="roundRect">
            <a:avLst>
              <a:gd name="adj" fmla="val 21739"/>
            </a:avLst>
          </a:prstGeom>
          <a:solidFill>
            <a:srgbClr val="BD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Команда работает с одними условиями [1]"/>
          <p:cNvSpPr txBox="1"/>
          <p:nvPr/>
        </p:nvSpPr>
        <p:spPr>
          <a:xfrm>
            <a:off x="677333" y="558800"/>
            <a:ext cx="10837333" cy="13419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83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F3F6F4"/>
                </a:solidFill>
                <a:latin typeface="Noto Sans"/>
              </a:rPr>
              <a:t>Команда работает</a:t>
            </a:r>
          </a:p>
          <a:p>
            <a:pPr algn="l">
              <a:lnSpc>
                <a:spcPts val="5083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F3F6F4"/>
                </a:solidFill>
                <a:latin typeface="Noto Sans"/>
              </a:rPr>
              <a:t>с одними условиями</a:t>
            </a:r>
          </a:p>
        </p:txBody>
      </p:sp>
      <p:sp>
        <p:nvSpPr>
          <p:cNvPr id="3" name="poly [2]"/>
          <p:cNvSpPr/>
          <p:nvPr/>
        </p:nvSpPr>
        <p:spPr>
          <a:xfrm>
            <a:off x="856800" y="2788800"/>
            <a:ext cx="4821600" cy="3175200"/>
          </a:xfrm>
          <a:custGeom>
            <a:avLst/>
            <a:gdLst/>
            <a:ahLst/>
            <a:cxnLst/>
            <a:rect l="l" t="t" r="r" b="b"/>
            <a:pathLst>
              <a:path w="57400" h="37800">
                <a:moveTo>
                  <a:pt x="0" y="0"/>
                </a:moveTo>
                <a:lnTo>
                  <a:pt x="53800" y="0"/>
                </a:lnTo>
                <a:lnTo>
                  <a:pt x="57400" y="3000"/>
                </a:lnTo>
                <a:lnTo>
                  <a:pt x="57400" y="37800"/>
                </a:lnTo>
                <a:lnTo>
                  <a:pt x="0" y="37800"/>
                </a:lnTo>
                <a:close/>
              </a:path>
            </a:pathLst>
          </a:custGeom>
          <a:solidFill>
            <a:srgbClr val="0B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oly [3]"/>
          <p:cNvSpPr/>
          <p:nvPr/>
        </p:nvSpPr>
        <p:spPr>
          <a:xfrm>
            <a:off x="5678400" y="3040800"/>
            <a:ext cx="134400" cy="3024000"/>
          </a:xfrm>
          <a:custGeom>
            <a:avLst/>
            <a:gdLst/>
            <a:ahLst/>
            <a:cxnLst/>
            <a:rect l="l" t="t" r="r" b="b"/>
            <a:pathLst>
              <a:path w="1600" h="36000">
                <a:moveTo>
                  <a:pt x="0" y="0"/>
                </a:moveTo>
                <a:lnTo>
                  <a:pt x="1600" y="1000"/>
                </a:lnTo>
                <a:lnTo>
                  <a:pt x="1600" y="36000"/>
                </a:lnTo>
                <a:lnTo>
                  <a:pt x="0" y="34800"/>
                </a:lnTo>
                <a:close/>
              </a:path>
            </a:pathLst>
          </a:custGeom>
          <a:solidFill>
            <a:srgbClr val="062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ly [4]"/>
          <p:cNvSpPr/>
          <p:nvPr/>
        </p:nvSpPr>
        <p:spPr>
          <a:xfrm>
            <a:off x="856800" y="5964000"/>
            <a:ext cx="4956000" cy="100800"/>
          </a:xfrm>
          <a:custGeom>
            <a:avLst/>
            <a:gdLst/>
            <a:ahLst/>
            <a:cxnLst/>
            <a:rect l="l" t="t" r="r" b="b"/>
            <a:pathLst>
              <a:path w="59000" h="1200">
                <a:moveTo>
                  <a:pt x="0" y="0"/>
                </a:moveTo>
                <a:lnTo>
                  <a:pt x="57400" y="0"/>
                </a:lnTo>
                <a:lnTo>
                  <a:pt x="59000" y="1200"/>
                </a:lnTo>
                <a:lnTo>
                  <a:pt x="1600" y="1200"/>
                </a:lnTo>
                <a:close/>
              </a:path>
            </a:pathLst>
          </a:custGeom>
          <a:solidFill>
            <a:srgbClr val="052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890400" y="2822400"/>
            <a:ext cx="4536000" cy="84000"/>
          </a:xfrm>
          <a:custGeom>
            <a:avLst/>
            <a:gdLst/>
            <a:ahLst/>
            <a:cxnLst/>
            <a:rect l="l" t="t" r="r" b="b"/>
            <a:pathLst>
              <a:path w="54000" h="1000">
                <a:moveTo>
                  <a:pt x="0" y="0"/>
                </a:moveTo>
                <a:lnTo>
                  <a:pt x="53000" y="0"/>
                </a:lnTo>
                <a:lnTo>
                  <a:pt x="54000" y="1000"/>
                </a:lnTo>
                <a:lnTo>
                  <a:pt x="1000" y="1000"/>
                </a:lnTo>
                <a:close/>
              </a:path>
            </a:pathLst>
          </a:custGeom>
          <a:solidFill>
            <a:srgbClr val="2D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772800" y="5611200"/>
            <a:ext cx="5149200" cy="184800"/>
          </a:xfrm>
          <a:custGeom>
            <a:avLst/>
            <a:gdLst/>
            <a:ahLst/>
            <a:cxnLst/>
            <a:rect l="l" t="t" r="r" b="b"/>
            <a:pathLst>
              <a:path w="61300" h="2200">
                <a:moveTo>
                  <a:pt x="0" y="0"/>
                </a:moveTo>
                <a:lnTo>
                  <a:pt x="58500" y="0"/>
                </a:lnTo>
                <a:lnTo>
                  <a:pt x="61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5376000" y="2318400"/>
            <a:ext cx="109200" cy="3334800"/>
          </a:xfrm>
          <a:custGeom>
            <a:avLst/>
            <a:gdLst/>
            <a:ahLst/>
            <a:cxnLst/>
            <a:rect l="l" t="t" r="r" b="b"/>
            <a:pathLst>
              <a:path w="1300" h="39700">
                <a:moveTo>
                  <a:pt x="0" y="0"/>
                </a:moveTo>
                <a:lnTo>
                  <a:pt x="1300" y="1300"/>
                </a:lnTo>
                <a:lnTo>
                  <a:pt x="1300" y="39700"/>
                </a:lnTo>
                <a:lnTo>
                  <a:pt x="0" y="384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ly [8]"/>
          <p:cNvSpPr/>
          <p:nvPr/>
        </p:nvSpPr>
        <p:spPr>
          <a:xfrm>
            <a:off x="672000" y="5544000"/>
            <a:ext cx="4813200" cy="109200"/>
          </a:xfrm>
          <a:custGeom>
            <a:avLst/>
            <a:gdLst/>
            <a:ahLst/>
            <a:cxnLst/>
            <a:rect l="l" t="t" r="r" b="b"/>
            <a:pathLst>
              <a:path w="57300" h="1300">
                <a:moveTo>
                  <a:pt x="0" y="0"/>
                </a:moveTo>
                <a:lnTo>
                  <a:pt x="56000" y="0"/>
                </a:lnTo>
                <a:lnTo>
                  <a:pt x="57300" y="1300"/>
                </a:lnTo>
                <a:lnTo>
                  <a:pt x="1300" y="13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ly [9]"/>
          <p:cNvSpPr/>
          <p:nvPr/>
        </p:nvSpPr>
        <p:spPr>
          <a:xfrm>
            <a:off x="672000" y="2318400"/>
            <a:ext cx="4704000" cy="3225600"/>
          </a:xfrm>
          <a:custGeom>
            <a:avLst/>
            <a:gdLst/>
            <a:ahLst/>
            <a:cxnLst/>
            <a:rect l="l" t="t" r="r" b="b"/>
            <a:pathLst>
              <a:path w="56000" h="38400">
                <a:moveTo>
                  <a:pt x="0" y="0"/>
                </a:moveTo>
                <a:lnTo>
                  <a:pt x="51500" y="0"/>
                </a:lnTo>
                <a:lnTo>
                  <a:pt x="56000" y="4500"/>
                </a:lnTo>
                <a:lnTo>
                  <a:pt x="56000" y="38400"/>
                </a:lnTo>
                <a:lnTo>
                  <a:pt x="0" y="38400"/>
                </a:lnTo>
                <a:close/>
              </a:path>
            </a:pathLst>
          </a:custGeom>
          <a:solidFill>
            <a:srgbClr val="98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ly [10]"/>
          <p:cNvSpPr/>
          <p:nvPr/>
        </p:nvSpPr>
        <p:spPr>
          <a:xfrm>
            <a:off x="4998000" y="23184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Правила бизнеса [11]"/>
          <p:cNvSpPr txBox="1"/>
          <p:nvPr/>
        </p:nvSpPr>
        <p:spPr>
          <a:xfrm>
            <a:off x="973666" y="2624666"/>
            <a:ext cx="4131733" cy="421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16"/>
              </a:lnSpc>
              <a:spcBef>
                <a:spcPts val="0"/>
              </a:spcBef>
              <a:spcAft>
                <a:spcPts val="0"/>
              </a:spcAft>
            </a:pPr>
            <a:r>
              <a:rPr sz="2333" b="1">
                <a:solidFill>
                  <a:srgbClr val="17332E"/>
                </a:solidFill>
                <a:latin typeface="Noto Sans"/>
              </a:rPr>
              <a:t>Правила бизнеса</a:t>
            </a:r>
          </a:p>
        </p:txBody>
      </p:sp>
      <p:sp>
        <p:nvSpPr>
          <p:cNvPr id="13" name="poly [12]"/>
          <p:cNvSpPr/>
          <p:nvPr/>
        </p:nvSpPr>
        <p:spPr>
          <a:xfrm>
            <a:off x="1243200" y="5930400"/>
            <a:ext cx="5149200" cy="184800"/>
          </a:xfrm>
          <a:custGeom>
            <a:avLst/>
            <a:gdLst/>
            <a:ahLst/>
            <a:cxnLst/>
            <a:rect l="l" t="t" r="r" b="b"/>
            <a:pathLst>
              <a:path w="61300" h="2200">
                <a:moveTo>
                  <a:pt x="0" y="0"/>
                </a:moveTo>
                <a:lnTo>
                  <a:pt x="58500" y="0"/>
                </a:lnTo>
                <a:lnTo>
                  <a:pt x="61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ly [13]"/>
          <p:cNvSpPr/>
          <p:nvPr/>
        </p:nvSpPr>
        <p:spPr>
          <a:xfrm>
            <a:off x="5846400" y="3217200"/>
            <a:ext cx="109200" cy="2755200"/>
          </a:xfrm>
          <a:custGeom>
            <a:avLst/>
            <a:gdLst/>
            <a:ahLst/>
            <a:cxnLst/>
            <a:rect l="l" t="t" r="r" b="b"/>
            <a:pathLst>
              <a:path w="1300" h="32800">
                <a:moveTo>
                  <a:pt x="0" y="0"/>
                </a:moveTo>
                <a:lnTo>
                  <a:pt x="1300" y="1300"/>
                </a:lnTo>
                <a:lnTo>
                  <a:pt x="1300" y="32800"/>
                </a:lnTo>
                <a:lnTo>
                  <a:pt x="0" y="315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ly [14]"/>
          <p:cNvSpPr/>
          <p:nvPr/>
        </p:nvSpPr>
        <p:spPr>
          <a:xfrm>
            <a:off x="1142400" y="5863200"/>
            <a:ext cx="4813200" cy="109200"/>
          </a:xfrm>
          <a:custGeom>
            <a:avLst/>
            <a:gdLst/>
            <a:ahLst/>
            <a:cxnLst/>
            <a:rect l="l" t="t" r="r" b="b"/>
            <a:pathLst>
              <a:path w="57300" h="1300">
                <a:moveTo>
                  <a:pt x="0" y="0"/>
                </a:moveTo>
                <a:lnTo>
                  <a:pt x="56000" y="0"/>
                </a:lnTo>
                <a:lnTo>
                  <a:pt x="57300" y="1300"/>
                </a:lnTo>
                <a:lnTo>
                  <a:pt x="1300" y="13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ly [15]"/>
          <p:cNvSpPr/>
          <p:nvPr/>
        </p:nvSpPr>
        <p:spPr>
          <a:xfrm>
            <a:off x="1142400" y="3217200"/>
            <a:ext cx="4704000" cy="2646000"/>
          </a:xfrm>
          <a:custGeom>
            <a:avLst/>
            <a:gdLst/>
            <a:ahLst/>
            <a:cxnLst/>
            <a:rect l="l" t="t" r="r" b="b"/>
            <a:pathLst>
              <a:path w="56000" h="31500">
                <a:moveTo>
                  <a:pt x="0" y="0"/>
                </a:moveTo>
                <a:lnTo>
                  <a:pt x="51500" y="0"/>
                </a:lnTo>
                <a:lnTo>
                  <a:pt x="56000" y="4500"/>
                </a:lnTo>
                <a:lnTo>
                  <a:pt x="56000" y="31500"/>
                </a:lnTo>
                <a:lnTo>
                  <a:pt x="0" y="31500"/>
                </a:lnTo>
                <a:close/>
              </a:path>
            </a:pathLst>
          </a:custGeom>
          <a:solidFill>
            <a:srgbClr val="C8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ly [16]"/>
          <p:cNvSpPr/>
          <p:nvPr/>
        </p:nvSpPr>
        <p:spPr>
          <a:xfrm>
            <a:off x="5468400" y="32172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Комментарии к версии [17]"/>
          <p:cNvSpPr txBox="1"/>
          <p:nvPr/>
        </p:nvSpPr>
        <p:spPr>
          <a:xfrm>
            <a:off x="1447800" y="3522133"/>
            <a:ext cx="4131733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Комментарии к версии</a:t>
            </a:r>
          </a:p>
        </p:txBody>
      </p:sp>
      <p:sp>
        <p:nvSpPr>
          <p:cNvPr id="19" name="poly [18]"/>
          <p:cNvSpPr/>
          <p:nvPr/>
        </p:nvSpPr>
        <p:spPr>
          <a:xfrm>
            <a:off x="1713600" y="6115200"/>
            <a:ext cx="5149200" cy="184800"/>
          </a:xfrm>
          <a:custGeom>
            <a:avLst/>
            <a:gdLst/>
            <a:ahLst/>
            <a:cxnLst/>
            <a:rect l="l" t="t" r="r" b="b"/>
            <a:pathLst>
              <a:path w="61300" h="2200">
                <a:moveTo>
                  <a:pt x="0" y="0"/>
                </a:moveTo>
                <a:lnTo>
                  <a:pt x="58500" y="0"/>
                </a:lnTo>
                <a:lnTo>
                  <a:pt x="61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ly [19]"/>
          <p:cNvSpPr/>
          <p:nvPr/>
        </p:nvSpPr>
        <p:spPr>
          <a:xfrm>
            <a:off x="6316800" y="4166400"/>
            <a:ext cx="109200" cy="1990800"/>
          </a:xfrm>
          <a:custGeom>
            <a:avLst/>
            <a:gdLst/>
            <a:ahLst/>
            <a:cxnLst/>
            <a:rect l="l" t="t" r="r" b="b"/>
            <a:pathLst>
              <a:path w="1300" h="23700">
                <a:moveTo>
                  <a:pt x="0" y="0"/>
                </a:moveTo>
                <a:lnTo>
                  <a:pt x="1300" y="1300"/>
                </a:lnTo>
                <a:lnTo>
                  <a:pt x="1300" y="23700"/>
                </a:lnTo>
                <a:lnTo>
                  <a:pt x="0" y="224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ly [20]"/>
          <p:cNvSpPr/>
          <p:nvPr/>
        </p:nvSpPr>
        <p:spPr>
          <a:xfrm>
            <a:off x="1612800" y="6048000"/>
            <a:ext cx="4813200" cy="109200"/>
          </a:xfrm>
          <a:custGeom>
            <a:avLst/>
            <a:gdLst/>
            <a:ahLst/>
            <a:cxnLst/>
            <a:rect l="l" t="t" r="r" b="b"/>
            <a:pathLst>
              <a:path w="57300" h="1300">
                <a:moveTo>
                  <a:pt x="0" y="0"/>
                </a:moveTo>
                <a:lnTo>
                  <a:pt x="56000" y="0"/>
                </a:lnTo>
                <a:lnTo>
                  <a:pt x="57300" y="1300"/>
                </a:lnTo>
                <a:lnTo>
                  <a:pt x="1300" y="13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ly [21]"/>
          <p:cNvSpPr/>
          <p:nvPr/>
        </p:nvSpPr>
        <p:spPr>
          <a:xfrm>
            <a:off x="1612800" y="4166400"/>
            <a:ext cx="4704000" cy="1881600"/>
          </a:xfrm>
          <a:custGeom>
            <a:avLst/>
            <a:gdLst/>
            <a:ahLst/>
            <a:cxnLst/>
            <a:rect l="l" t="t" r="r" b="b"/>
            <a:pathLst>
              <a:path w="56000" h="22400">
                <a:moveTo>
                  <a:pt x="0" y="0"/>
                </a:moveTo>
                <a:lnTo>
                  <a:pt x="51500" y="0"/>
                </a:lnTo>
                <a:lnTo>
                  <a:pt x="56000" y="4500"/>
                </a:lnTo>
                <a:lnTo>
                  <a:pt x="56000" y="22400"/>
                </a:lnTo>
                <a:lnTo>
                  <a:pt x="0" y="22400"/>
                </a:lnTo>
                <a:close/>
              </a:path>
            </a:pathLst>
          </a:cu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ly [22]"/>
          <p:cNvSpPr/>
          <p:nvPr/>
        </p:nvSpPr>
        <p:spPr>
          <a:xfrm>
            <a:off x="5938800" y="4166400"/>
            <a:ext cx="378000" cy="378000"/>
          </a:xfrm>
          <a:custGeom>
            <a:avLst/>
            <a:gdLst/>
            <a:ahLst/>
            <a:cxnLst/>
            <a:rect l="l" t="t" r="r" b="b"/>
            <a:pathLst>
              <a:path w="4500" h="4500">
                <a:moveTo>
                  <a:pt x="0" y="0"/>
                </a:moveTo>
                <a:lnTo>
                  <a:pt x="0" y="4500"/>
                </a:lnTo>
                <a:lnTo>
                  <a:pt x="4500" y="450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Следующая работа [23]"/>
          <p:cNvSpPr txBox="1"/>
          <p:nvPr/>
        </p:nvSpPr>
        <p:spPr>
          <a:xfrm>
            <a:off x="1921933" y="4495800"/>
            <a:ext cx="413173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32E"/>
                </a:solidFill>
                <a:latin typeface="Noto Sans"/>
              </a:rPr>
              <a:t>Следующая работа</a:t>
            </a:r>
          </a:p>
        </p:txBody>
      </p:sp>
      <p:sp>
        <p:nvSpPr>
          <p:cNvPr id="25" name="Свежие данные [24]"/>
          <p:cNvSpPr txBox="1"/>
          <p:nvPr/>
        </p:nvSpPr>
        <p:spPr>
          <a:xfrm>
            <a:off x="1921933" y="5096933"/>
            <a:ext cx="4131733" cy="336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E6C5F"/>
                </a:solidFill>
                <a:latin typeface="Noto Sans"/>
              </a:rPr>
              <a:t>Свежие данные</a:t>
            </a:r>
          </a:p>
        </p:txBody>
      </p:sp>
      <p:sp>
        <p:nvSpPr>
          <p:cNvPr id="26" name="Коллеги обсуждают конкретную версию. [25]"/>
          <p:cNvSpPr txBox="1"/>
          <p:nvPr/>
        </p:nvSpPr>
        <p:spPr>
          <a:xfrm>
            <a:off x="7112000" y="2573866"/>
            <a:ext cx="4402666" cy="728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133" b="1">
                <a:solidFill>
                  <a:srgbClr val="F3F6F4"/>
                </a:solidFill>
                <a:latin typeface="Noto Sans"/>
              </a:rPr>
              <a:t>Коллеги обсуждают</a:t>
            </a:r>
          </a:p>
          <a:p>
            <a:pPr algn="l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133" b="1">
                <a:solidFill>
                  <a:srgbClr val="F3F6F4"/>
                </a:solidFill>
                <a:latin typeface="Noto Sans"/>
              </a:rPr>
              <a:t>конкретную версию.</a:t>
            </a:r>
          </a:p>
        </p:txBody>
      </p:sp>
      <p:sp>
        <p:nvSpPr>
          <p:cNvPr id="27" name="Новая задача использует ваши правила и свежие данные. [26]"/>
          <p:cNvSpPr txBox="1"/>
          <p:nvPr/>
        </p:nvSpPr>
        <p:spPr>
          <a:xfrm>
            <a:off x="7112000" y="3886200"/>
            <a:ext cx="4402666" cy="664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Новая задача использует</a:t>
            </a:r>
          </a:p>
          <a:p>
            <a:pPr algn="l">
              <a:lnSpc>
                <a:spcPts val="2416"/>
              </a:lnSpc>
              <a:spcBef>
                <a:spcPts val="0"/>
              </a:spcBef>
              <a:spcAft>
                <a:spcPts val="0"/>
              </a:spcAft>
            </a:pPr>
            <a:r>
              <a:rPr sz="1933" b="0">
                <a:solidFill>
                  <a:srgbClr val="B7CFC4"/>
                </a:solidFill>
                <a:latin typeface="Noto Sans"/>
              </a:rPr>
              <a:t>ваши правила и свежие данные.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7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Готовый комплект можно использовать дальше [1]"/>
          <p:cNvSpPr txBox="1"/>
          <p:nvPr/>
        </p:nvSpPr>
        <p:spPr>
          <a:xfrm>
            <a:off x="677333" y="567266"/>
            <a:ext cx="10837333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Готовый комплект</a:t>
            </a:r>
          </a:p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3F6F4"/>
                </a:solidFill>
                <a:latin typeface="Noto Sans"/>
              </a:rPr>
              <a:t>можно использовать дальше</a:t>
            </a:r>
          </a:p>
        </p:txBody>
      </p:sp>
      <p:sp>
        <p:nvSpPr>
          <p:cNvPr id="3" name="Документы, расчёты, планы и макеты переходят в привычные инструменты б [2]"/>
          <p:cNvSpPr txBox="1"/>
          <p:nvPr/>
        </p:nvSpPr>
        <p:spPr>
          <a:xfrm>
            <a:off x="677333" y="2243666"/>
            <a:ext cx="10668000" cy="6434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C7DFD2"/>
                </a:solidFill>
                <a:latin typeface="Noto Sans"/>
              </a:rPr>
              <a:t>Документы, расчёты, планы и макеты</a:t>
            </a:r>
          </a:p>
          <a:p>
            <a:pPr algn="l">
              <a:lnSpc>
                <a:spcPts val="2333"/>
              </a:lnSpc>
              <a:spcBef>
                <a:spcPts val="0"/>
              </a:spcBef>
              <a:spcAft>
                <a:spcPts val="0"/>
              </a:spcAft>
            </a:pPr>
            <a:r>
              <a:rPr sz="1866" b="0">
                <a:solidFill>
                  <a:srgbClr val="C7DFD2"/>
                </a:solidFill>
                <a:latin typeface="Noto Sans"/>
              </a:rPr>
              <a:t>переходят в привычные инструменты бизнеса.</a:t>
            </a:r>
          </a:p>
        </p:txBody>
      </p:sp>
      <p:sp>
        <p:nvSpPr>
          <p:cNvPr id="4" name="poly [3]"/>
          <p:cNvSpPr/>
          <p:nvPr/>
        </p:nvSpPr>
        <p:spPr>
          <a:xfrm>
            <a:off x="772800" y="6039600"/>
            <a:ext cx="2200800" cy="184800"/>
          </a:xfrm>
          <a:custGeom>
            <a:avLst/>
            <a:gdLst/>
            <a:ahLst/>
            <a:cxnLst/>
            <a:rect l="l" t="t" r="r" b="b"/>
            <a:pathLst>
              <a:path w="26200" h="2200">
                <a:moveTo>
                  <a:pt x="0" y="0"/>
                </a:moveTo>
                <a:lnTo>
                  <a:pt x="23400" y="0"/>
                </a:lnTo>
                <a:lnTo>
                  <a:pt x="262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ly [4]"/>
          <p:cNvSpPr/>
          <p:nvPr/>
        </p:nvSpPr>
        <p:spPr>
          <a:xfrm>
            <a:off x="2469600" y="3847200"/>
            <a:ext cx="67200" cy="2192400"/>
          </a:xfrm>
          <a:custGeom>
            <a:avLst/>
            <a:gdLst/>
            <a:ahLst/>
            <a:cxnLst/>
            <a:rect l="l" t="t" r="r" b="b"/>
            <a:pathLst>
              <a:path w="800" h="26100">
                <a:moveTo>
                  <a:pt x="0" y="0"/>
                </a:moveTo>
                <a:lnTo>
                  <a:pt x="800" y="800"/>
                </a:lnTo>
                <a:lnTo>
                  <a:pt x="800" y="26100"/>
                </a:lnTo>
                <a:lnTo>
                  <a:pt x="0" y="253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y [5]"/>
          <p:cNvSpPr/>
          <p:nvPr/>
        </p:nvSpPr>
        <p:spPr>
          <a:xfrm>
            <a:off x="672000" y="5972400"/>
            <a:ext cx="1864800" cy="67200"/>
          </a:xfrm>
          <a:custGeom>
            <a:avLst/>
            <a:gdLst/>
            <a:ahLst/>
            <a:cxnLst/>
            <a:rect l="l" t="t" r="r" b="b"/>
            <a:pathLst>
              <a:path w="22200" h="800">
                <a:moveTo>
                  <a:pt x="0" y="0"/>
                </a:moveTo>
                <a:lnTo>
                  <a:pt x="21400" y="0"/>
                </a:lnTo>
                <a:lnTo>
                  <a:pt x="222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y [6]"/>
          <p:cNvSpPr/>
          <p:nvPr/>
        </p:nvSpPr>
        <p:spPr>
          <a:xfrm>
            <a:off x="672000" y="3847200"/>
            <a:ext cx="1797600" cy="2125200"/>
          </a:xfrm>
          <a:custGeom>
            <a:avLst/>
            <a:gdLst/>
            <a:ahLst/>
            <a:cxnLst/>
            <a:rect l="l" t="t" r="r" b="b"/>
            <a:pathLst>
              <a:path w="21400" h="25300">
                <a:moveTo>
                  <a:pt x="0" y="0"/>
                </a:moveTo>
                <a:lnTo>
                  <a:pt x="18832" y="0"/>
                </a:lnTo>
                <a:lnTo>
                  <a:pt x="21400" y="2568"/>
                </a:lnTo>
                <a:lnTo>
                  <a:pt x="21400" y="25300"/>
                </a:lnTo>
                <a:lnTo>
                  <a:pt x="0" y="25300"/>
                </a:lnTo>
                <a:close/>
              </a:path>
            </a:pathLst>
          </a:custGeom>
          <a:solidFill>
            <a:srgbClr val="D7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ly [7]"/>
          <p:cNvSpPr/>
          <p:nvPr/>
        </p:nvSpPr>
        <p:spPr>
          <a:xfrm>
            <a:off x="2253888" y="3847200"/>
            <a:ext cx="215712" cy="215712"/>
          </a:xfrm>
          <a:custGeom>
            <a:avLst/>
            <a:gdLst/>
            <a:ahLst/>
            <a:cxnLst/>
            <a:rect l="l" t="t" r="r" b="b"/>
            <a:pathLst>
              <a:path w="2568" h="2568">
                <a:moveTo>
                  <a:pt x="0" y="0"/>
                </a:moveTo>
                <a:lnTo>
                  <a:pt x="0" y="2568"/>
                </a:lnTo>
                <a:lnTo>
                  <a:pt x="2568" y="2568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CX [8]"/>
          <p:cNvSpPr txBox="1"/>
          <p:nvPr/>
        </p:nvSpPr>
        <p:spPr>
          <a:xfrm>
            <a:off x="863600" y="5308600"/>
            <a:ext cx="1439333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DOCX</a:t>
            </a:r>
          </a:p>
        </p:txBody>
      </p:sp>
      <p:sp>
        <p:nvSpPr>
          <p:cNvPr id="10" name="poly [9]"/>
          <p:cNvSpPr/>
          <p:nvPr/>
        </p:nvSpPr>
        <p:spPr>
          <a:xfrm>
            <a:off x="2696400" y="6039600"/>
            <a:ext cx="2318400" cy="184800"/>
          </a:xfrm>
          <a:custGeom>
            <a:avLst/>
            <a:gdLst/>
            <a:ahLst/>
            <a:cxnLst/>
            <a:rect l="l" t="t" r="r" b="b"/>
            <a:pathLst>
              <a:path w="27600" h="2200">
                <a:moveTo>
                  <a:pt x="0" y="0"/>
                </a:moveTo>
                <a:lnTo>
                  <a:pt x="24800" y="0"/>
                </a:lnTo>
                <a:lnTo>
                  <a:pt x="276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oly [10]"/>
          <p:cNvSpPr/>
          <p:nvPr/>
        </p:nvSpPr>
        <p:spPr>
          <a:xfrm>
            <a:off x="4510800" y="3452400"/>
            <a:ext cx="67200" cy="2587200"/>
          </a:xfrm>
          <a:custGeom>
            <a:avLst/>
            <a:gdLst/>
            <a:ahLst/>
            <a:cxnLst/>
            <a:rect l="l" t="t" r="r" b="b"/>
            <a:pathLst>
              <a:path w="800" h="30800">
                <a:moveTo>
                  <a:pt x="0" y="0"/>
                </a:moveTo>
                <a:lnTo>
                  <a:pt x="800" y="800"/>
                </a:lnTo>
                <a:lnTo>
                  <a:pt x="800" y="30800"/>
                </a:lnTo>
                <a:lnTo>
                  <a:pt x="0" y="300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y [11]"/>
          <p:cNvSpPr/>
          <p:nvPr/>
        </p:nvSpPr>
        <p:spPr>
          <a:xfrm>
            <a:off x="2595600" y="5972400"/>
            <a:ext cx="1982400" cy="67200"/>
          </a:xfrm>
          <a:custGeom>
            <a:avLst/>
            <a:gdLst/>
            <a:ahLst/>
            <a:cxnLst/>
            <a:rect l="l" t="t" r="r" b="b"/>
            <a:pathLst>
              <a:path w="23600" h="800">
                <a:moveTo>
                  <a:pt x="0" y="0"/>
                </a:moveTo>
                <a:lnTo>
                  <a:pt x="22800" y="0"/>
                </a:lnTo>
                <a:lnTo>
                  <a:pt x="236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y [12]"/>
          <p:cNvSpPr/>
          <p:nvPr/>
        </p:nvSpPr>
        <p:spPr>
          <a:xfrm>
            <a:off x="2595600" y="3452400"/>
            <a:ext cx="1915200" cy="2520000"/>
          </a:xfrm>
          <a:custGeom>
            <a:avLst/>
            <a:gdLst/>
            <a:ahLst/>
            <a:cxnLst/>
            <a:rect l="l" t="t" r="r" b="b"/>
            <a:pathLst>
              <a:path w="22800" h="30000">
                <a:moveTo>
                  <a:pt x="0" y="0"/>
                </a:moveTo>
                <a:lnTo>
                  <a:pt x="20064" y="0"/>
                </a:lnTo>
                <a:lnTo>
                  <a:pt x="22800" y="2736"/>
                </a:lnTo>
                <a:lnTo>
                  <a:pt x="22800" y="30000"/>
                </a:lnTo>
                <a:lnTo>
                  <a:pt x="0" y="30000"/>
                </a:lnTo>
                <a:close/>
              </a:path>
            </a:pathLst>
          </a:custGeom>
          <a:solidFill>
            <a:srgbClr val="E9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ly [13]"/>
          <p:cNvSpPr/>
          <p:nvPr/>
        </p:nvSpPr>
        <p:spPr>
          <a:xfrm>
            <a:off x="4280976" y="3452400"/>
            <a:ext cx="229824" cy="229824"/>
          </a:xfrm>
          <a:custGeom>
            <a:avLst/>
            <a:gdLst/>
            <a:ahLst/>
            <a:cxnLst/>
            <a:rect l="l" t="t" r="r" b="b"/>
            <a:pathLst>
              <a:path w="2736" h="2736">
                <a:moveTo>
                  <a:pt x="0" y="0"/>
                </a:moveTo>
                <a:lnTo>
                  <a:pt x="0" y="2736"/>
                </a:lnTo>
                <a:lnTo>
                  <a:pt x="2736" y="2736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XLSX [14]"/>
          <p:cNvSpPr txBox="1"/>
          <p:nvPr/>
        </p:nvSpPr>
        <p:spPr>
          <a:xfrm>
            <a:off x="2802466" y="5308600"/>
            <a:ext cx="1557866" cy="3788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17332E"/>
                </a:solidFill>
                <a:latin typeface="Noto Sans"/>
              </a:rPr>
              <a:t>XLSX</a:t>
            </a:r>
          </a:p>
        </p:txBody>
      </p:sp>
      <p:sp>
        <p:nvSpPr>
          <p:cNvPr id="16" name="poly [15]"/>
          <p:cNvSpPr/>
          <p:nvPr/>
        </p:nvSpPr>
        <p:spPr>
          <a:xfrm>
            <a:off x="4737600" y="6039600"/>
            <a:ext cx="2436000" cy="184800"/>
          </a:xfrm>
          <a:custGeom>
            <a:avLst/>
            <a:gdLst/>
            <a:ahLst/>
            <a:cxnLst/>
            <a:rect l="l" t="t" r="r" b="b"/>
            <a:pathLst>
              <a:path w="29000" h="2200">
                <a:moveTo>
                  <a:pt x="0" y="0"/>
                </a:moveTo>
                <a:lnTo>
                  <a:pt x="26200" y="0"/>
                </a:lnTo>
                <a:lnTo>
                  <a:pt x="290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ly [16]"/>
          <p:cNvSpPr/>
          <p:nvPr/>
        </p:nvSpPr>
        <p:spPr>
          <a:xfrm>
            <a:off x="6669600" y="3141600"/>
            <a:ext cx="67200" cy="2898000"/>
          </a:xfrm>
          <a:custGeom>
            <a:avLst/>
            <a:gdLst/>
            <a:ahLst/>
            <a:cxnLst/>
            <a:rect l="l" t="t" r="r" b="b"/>
            <a:pathLst>
              <a:path w="800" h="34500">
                <a:moveTo>
                  <a:pt x="0" y="0"/>
                </a:moveTo>
                <a:lnTo>
                  <a:pt x="800" y="800"/>
                </a:lnTo>
                <a:lnTo>
                  <a:pt x="800" y="34500"/>
                </a:lnTo>
                <a:lnTo>
                  <a:pt x="0" y="337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ly [17]"/>
          <p:cNvSpPr/>
          <p:nvPr/>
        </p:nvSpPr>
        <p:spPr>
          <a:xfrm>
            <a:off x="4636800" y="5972400"/>
            <a:ext cx="2100000" cy="67200"/>
          </a:xfrm>
          <a:custGeom>
            <a:avLst/>
            <a:gdLst/>
            <a:ahLst/>
            <a:cxnLst/>
            <a:rect l="l" t="t" r="r" b="b"/>
            <a:pathLst>
              <a:path w="25000" h="800">
                <a:moveTo>
                  <a:pt x="0" y="0"/>
                </a:moveTo>
                <a:lnTo>
                  <a:pt x="24200" y="0"/>
                </a:lnTo>
                <a:lnTo>
                  <a:pt x="250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ly [18]"/>
          <p:cNvSpPr/>
          <p:nvPr/>
        </p:nvSpPr>
        <p:spPr>
          <a:xfrm>
            <a:off x="4636800" y="3141600"/>
            <a:ext cx="2032800" cy="2830800"/>
          </a:xfrm>
          <a:custGeom>
            <a:avLst/>
            <a:gdLst/>
            <a:ahLst/>
            <a:cxnLst/>
            <a:rect l="l" t="t" r="r" b="b"/>
            <a:pathLst>
              <a:path w="24200" h="33700">
                <a:moveTo>
                  <a:pt x="0" y="0"/>
                </a:moveTo>
                <a:lnTo>
                  <a:pt x="21296" y="0"/>
                </a:lnTo>
                <a:lnTo>
                  <a:pt x="24200" y="2904"/>
                </a:lnTo>
                <a:lnTo>
                  <a:pt x="24200" y="33700"/>
                </a:lnTo>
                <a:lnTo>
                  <a:pt x="0" y="33700"/>
                </a:lnTo>
                <a:close/>
              </a:path>
            </a:pathLst>
          </a:custGeom>
          <a:solidFill>
            <a:srgbClr val="B2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ly [19]"/>
          <p:cNvSpPr/>
          <p:nvPr/>
        </p:nvSpPr>
        <p:spPr>
          <a:xfrm>
            <a:off x="6425664" y="3141600"/>
            <a:ext cx="243936" cy="243936"/>
          </a:xfrm>
          <a:custGeom>
            <a:avLst/>
            <a:gdLst/>
            <a:ahLst/>
            <a:cxnLst/>
            <a:rect l="l" t="t" r="r" b="b"/>
            <a:pathLst>
              <a:path w="2904" h="2904">
                <a:moveTo>
                  <a:pt x="0" y="0"/>
                </a:moveTo>
                <a:lnTo>
                  <a:pt x="0" y="2904"/>
                </a:lnTo>
                <a:lnTo>
                  <a:pt x="2904" y="2904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DF [20]"/>
          <p:cNvSpPr txBox="1"/>
          <p:nvPr/>
        </p:nvSpPr>
        <p:spPr>
          <a:xfrm>
            <a:off x="4859866" y="5308600"/>
            <a:ext cx="1676400" cy="410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266" b="1">
                <a:solidFill>
                  <a:srgbClr val="17332E"/>
                </a:solidFill>
                <a:latin typeface="Noto Sans"/>
              </a:rPr>
              <a:t>PDF</a:t>
            </a:r>
          </a:p>
        </p:txBody>
      </p:sp>
      <p:sp>
        <p:nvSpPr>
          <p:cNvPr id="22" name="poly [21]"/>
          <p:cNvSpPr/>
          <p:nvPr/>
        </p:nvSpPr>
        <p:spPr>
          <a:xfrm>
            <a:off x="6896400" y="6039600"/>
            <a:ext cx="2284800" cy="184800"/>
          </a:xfrm>
          <a:custGeom>
            <a:avLst/>
            <a:gdLst/>
            <a:ahLst/>
            <a:cxnLst/>
            <a:rect l="l" t="t" r="r" b="b"/>
            <a:pathLst>
              <a:path w="27200" h="2200">
                <a:moveTo>
                  <a:pt x="0" y="0"/>
                </a:moveTo>
                <a:lnTo>
                  <a:pt x="24400" y="0"/>
                </a:lnTo>
                <a:lnTo>
                  <a:pt x="272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ly [22]"/>
          <p:cNvSpPr/>
          <p:nvPr/>
        </p:nvSpPr>
        <p:spPr>
          <a:xfrm>
            <a:off x="8677200" y="3486000"/>
            <a:ext cx="67200" cy="2553600"/>
          </a:xfrm>
          <a:custGeom>
            <a:avLst/>
            <a:gdLst/>
            <a:ahLst/>
            <a:cxnLst/>
            <a:rect l="l" t="t" r="r" b="b"/>
            <a:pathLst>
              <a:path w="800" h="30400">
                <a:moveTo>
                  <a:pt x="0" y="0"/>
                </a:moveTo>
                <a:lnTo>
                  <a:pt x="800" y="800"/>
                </a:lnTo>
                <a:lnTo>
                  <a:pt x="800" y="30400"/>
                </a:lnTo>
                <a:lnTo>
                  <a:pt x="0" y="296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ly [23]"/>
          <p:cNvSpPr/>
          <p:nvPr/>
        </p:nvSpPr>
        <p:spPr>
          <a:xfrm>
            <a:off x="6795600" y="5972400"/>
            <a:ext cx="1948800" cy="67200"/>
          </a:xfrm>
          <a:custGeom>
            <a:avLst/>
            <a:gdLst/>
            <a:ahLst/>
            <a:cxnLst/>
            <a:rect l="l" t="t" r="r" b="b"/>
            <a:pathLst>
              <a:path w="23200" h="800">
                <a:moveTo>
                  <a:pt x="0" y="0"/>
                </a:moveTo>
                <a:lnTo>
                  <a:pt x="22400" y="0"/>
                </a:lnTo>
                <a:lnTo>
                  <a:pt x="232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ly [24]"/>
          <p:cNvSpPr/>
          <p:nvPr/>
        </p:nvSpPr>
        <p:spPr>
          <a:xfrm>
            <a:off x="6795600" y="3486000"/>
            <a:ext cx="1881600" cy="2486400"/>
          </a:xfrm>
          <a:custGeom>
            <a:avLst/>
            <a:gdLst/>
            <a:ahLst/>
            <a:cxnLst/>
            <a:rect l="l" t="t" r="r" b="b"/>
            <a:pathLst>
              <a:path w="22400" h="29600">
                <a:moveTo>
                  <a:pt x="0" y="0"/>
                </a:moveTo>
                <a:lnTo>
                  <a:pt x="19712" y="0"/>
                </a:lnTo>
                <a:lnTo>
                  <a:pt x="22400" y="2688"/>
                </a:lnTo>
                <a:lnTo>
                  <a:pt x="22400" y="29600"/>
                </a:lnTo>
                <a:lnTo>
                  <a:pt x="0" y="29600"/>
                </a:lnTo>
                <a:close/>
              </a:path>
            </a:pathLst>
          </a:custGeom>
          <a:solidFill>
            <a:srgbClr val="E6A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ly [25]"/>
          <p:cNvSpPr/>
          <p:nvPr/>
        </p:nvSpPr>
        <p:spPr>
          <a:xfrm>
            <a:off x="8451408" y="3486000"/>
            <a:ext cx="225792" cy="225792"/>
          </a:xfrm>
          <a:custGeom>
            <a:avLst/>
            <a:gdLst/>
            <a:ahLst/>
            <a:cxnLst/>
            <a:rect l="l" t="t" r="r" b="b"/>
            <a:pathLst>
              <a:path w="2688" h="2688">
                <a:moveTo>
                  <a:pt x="0" y="0"/>
                </a:moveTo>
                <a:lnTo>
                  <a:pt x="0" y="2688"/>
                </a:lnTo>
                <a:lnTo>
                  <a:pt x="2688" y="2688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NG [26]"/>
          <p:cNvSpPr txBox="1"/>
          <p:nvPr/>
        </p:nvSpPr>
        <p:spPr>
          <a:xfrm>
            <a:off x="7035800" y="5308600"/>
            <a:ext cx="1524000" cy="410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266" b="1">
                <a:solidFill>
                  <a:srgbClr val="17332E"/>
                </a:solidFill>
                <a:latin typeface="Noto Sans"/>
              </a:rPr>
              <a:t>PNG</a:t>
            </a:r>
          </a:p>
        </p:txBody>
      </p:sp>
      <p:sp>
        <p:nvSpPr>
          <p:cNvPr id="28" name="poly [27]"/>
          <p:cNvSpPr/>
          <p:nvPr/>
        </p:nvSpPr>
        <p:spPr>
          <a:xfrm>
            <a:off x="8904000" y="6039600"/>
            <a:ext cx="1621200" cy="184800"/>
          </a:xfrm>
          <a:custGeom>
            <a:avLst/>
            <a:gdLst/>
            <a:ahLst/>
            <a:cxnLst/>
            <a:rect l="l" t="t" r="r" b="b"/>
            <a:pathLst>
              <a:path w="19300" h="2200">
                <a:moveTo>
                  <a:pt x="0" y="0"/>
                </a:moveTo>
                <a:lnTo>
                  <a:pt x="16500" y="0"/>
                </a:lnTo>
                <a:lnTo>
                  <a:pt x="19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ly [28]"/>
          <p:cNvSpPr/>
          <p:nvPr/>
        </p:nvSpPr>
        <p:spPr>
          <a:xfrm>
            <a:off x="10021200" y="3864000"/>
            <a:ext cx="67200" cy="2175600"/>
          </a:xfrm>
          <a:custGeom>
            <a:avLst/>
            <a:gdLst/>
            <a:ahLst/>
            <a:cxnLst/>
            <a:rect l="l" t="t" r="r" b="b"/>
            <a:pathLst>
              <a:path w="800" h="25900">
                <a:moveTo>
                  <a:pt x="0" y="0"/>
                </a:moveTo>
                <a:lnTo>
                  <a:pt x="800" y="800"/>
                </a:lnTo>
                <a:lnTo>
                  <a:pt x="800" y="25900"/>
                </a:lnTo>
                <a:lnTo>
                  <a:pt x="0" y="251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ly [29]"/>
          <p:cNvSpPr/>
          <p:nvPr/>
        </p:nvSpPr>
        <p:spPr>
          <a:xfrm>
            <a:off x="8803200" y="5972400"/>
            <a:ext cx="1285200" cy="67200"/>
          </a:xfrm>
          <a:custGeom>
            <a:avLst/>
            <a:gdLst/>
            <a:ahLst/>
            <a:cxnLst/>
            <a:rect l="l" t="t" r="r" b="b"/>
            <a:pathLst>
              <a:path w="15300" h="800">
                <a:moveTo>
                  <a:pt x="0" y="0"/>
                </a:moveTo>
                <a:lnTo>
                  <a:pt x="14500" y="0"/>
                </a:lnTo>
                <a:lnTo>
                  <a:pt x="153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ly [30]"/>
          <p:cNvSpPr/>
          <p:nvPr/>
        </p:nvSpPr>
        <p:spPr>
          <a:xfrm>
            <a:off x="8803200" y="3864000"/>
            <a:ext cx="1218000" cy="2108400"/>
          </a:xfrm>
          <a:custGeom>
            <a:avLst/>
            <a:gdLst/>
            <a:ahLst/>
            <a:cxnLst/>
            <a:rect l="l" t="t" r="r" b="b"/>
            <a:pathLst>
              <a:path w="14500" h="25100">
                <a:moveTo>
                  <a:pt x="0" y="0"/>
                </a:moveTo>
                <a:lnTo>
                  <a:pt x="12760" y="0"/>
                </a:lnTo>
                <a:lnTo>
                  <a:pt x="14500" y="1740"/>
                </a:lnTo>
                <a:lnTo>
                  <a:pt x="14500" y="25100"/>
                </a:lnTo>
                <a:lnTo>
                  <a:pt x="0" y="25100"/>
                </a:lnTo>
                <a:close/>
              </a:path>
            </a:pathLst>
          </a:custGeom>
          <a:solidFill>
            <a:srgbClr val="B7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ly [31]"/>
          <p:cNvSpPr/>
          <p:nvPr/>
        </p:nvSpPr>
        <p:spPr>
          <a:xfrm>
            <a:off x="9875040" y="3864000"/>
            <a:ext cx="146160" cy="146160"/>
          </a:xfrm>
          <a:custGeom>
            <a:avLst/>
            <a:gdLst/>
            <a:ahLst/>
            <a:cxnLst/>
            <a:rect l="l" t="t" r="r" b="b"/>
            <a:pathLst>
              <a:path w="1740" h="1740">
                <a:moveTo>
                  <a:pt x="0" y="0"/>
                </a:moveTo>
                <a:lnTo>
                  <a:pt x="0" y="1740"/>
                </a:lnTo>
                <a:lnTo>
                  <a:pt x="1740" y="174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CS [32]"/>
          <p:cNvSpPr txBox="1"/>
          <p:nvPr/>
        </p:nvSpPr>
        <p:spPr>
          <a:xfrm>
            <a:off x="9059333" y="5308600"/>
            <a:ext cx="855133" cy="410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266" b="1">
                <a:solidFill>
                  <a:srgbClr val="17332E"/>
                </a:solidFill>
                <a:latin typeface="Noto Sans"/>
              </a:rPr>
              <a:t>ICS</a:t>
            </a:r>
          </a:p>
        </p:txBody>
      </p:sp>
      <p:sp>
        <p:nvSpPr>
          <p:cNvPr id="34" name="poly [33]"/>
          <p:cNvSpPr/>
          <p:nvPr/>
        </p:nvSpPr>
        <p:spPr>
          <a:xfrm>
            <a:off x="10248000" y="6039600"/>
            <a:ext cx="1621200" cy="184800"/>
          </a:xfrm>
          <a:custGeom>
            <a:avLst/>
            <a:gdLst/>
            <a:ahLst/>
            <a:cxnLst/>
            <a:rect l="l" t="t" r="r" b="b"/>
            <a:pathLst>
              <a:path w="19300" h="2200">
                <a:moveTo>
                  <a:pt x="0" y="0"/>
                </a:moveTo>
                <a:lnTo>
                  <a:pt x="16500" y="0"/>
                </a:lnTo>
                <a:lnTo>
                  <a:pt x="19300" y="2200"/>
                </a:lnTo>
                <a:lnTo>
                  <a:pt x="2800" y="2200"/>
                </a:lnTo>
                <a:close/>
              </a:path>
            </a:pathLst>
          </a:custGeom>
          <a:solidFill>
            <a:srgbClr val="0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ly [34]"/>
          <p:cNvSpPr/>
          <p:nvPr/>
        </p:nvSpPr>
        <p:spPr>
          <a:xfrm>
            <a:off x="11365200" y="4258800"/>
            <a:ext cx="67200" cy="1780800"/>
          </a:xfrm>
          <a:custGeom>
            <a:avLst/>
            <a:gdLst/>
            <a:ahLst/>
            <a:cxnLst/>
            <a:rect l="l" t="t" r="r" b="b"/>
            <a:pathLst>
              <a:path w="800" h="21200">
                <a:moveTo>
                  <a:pt x="0" y="0"/>
                </a:moveTo>
                <a:lnTo>
                  <a:pt x="800" y="800"/>
                </a:lnTo>
                <a:lnTo>
                  <a:pt x="800" y="21200"/>
                </a:lnTo>
                <a:lnTo>
                  <a:pt x="0" y="20400"/>
                </a:lnTo>
                <a:close/>
              </a:path>
            </a:pathLst>
          </a:custGeom>
          <a:solidFill>
            <a:srgbClr val="557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ly [35]"/>
          <p:cNvSpPr/>
          <p:nvPr/>
        </p:nvSpPr>
        <p:spPr>
          <a:xfrm>
            <a:off x="10147200" y="5972400"/>
            <a:ext cx="1285200" cy="67200"/>
          </a:xfrm>
          <a:custGeom>
            <a:avLst/>
            <a:gdLst/>
            <a:ahLst/>
            <a:cxnLst/>
            <a:rect l="l" t="t" r="r" b="b"/>
            <a:pathLst>
              <a:path w="15300" h="800">
                <a:moveTo>
                  <a:pt x="0" y="0"/>
                </a:moveTo>
                <a:lnTo>
                  <a:pt x="14500" y="0"/>
                </a:lnTo>
                <a:lnTo>
                  <a:pt x="15300" y="800"/>
                </a:lnTo>
                <a:lnTo>
                  <a:pt x="800" y="800"/>
                </a:lnTo>
                <a:close/>
              </a:path>
            </a:pathLst>
          </a:custGeom>
          <a:solidFill>
            <a:srgbClr val="789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ly [36]"/>
          <p:cNvSpPr/>
          <p:nvPr/>
        </p:nvSpPr>
        <p:spPr>
          <a:xfrm>
            <a:off x="10147200" y="4258800"/>
            <a:ext cx="1218000" cy="1713600"/>
          </a:xfrm>
          <a:custGeom>
            <a:avLst/>
            <a:gdLst/>
            <a:ahLst/>
            <a:cxnLst/>
            <a:rect l="l" t="t" r="r" b="b"/>
            <a:pathLst>
              <a:path w="14500" h="20400">
                <a:moveTo>
                  <a:pt x="0" y="0"/>
                </a:moveTo>
                <a:lnTo>
                  <a:pt x="12760" y="0"/>
                </a:lnTo>
                <a:lnTo>
                  <a:pt x="14500" y="1740"/>
                </a:lnTo>
                <a:lnTo>
                  <a:pt x="14500" y="20400"/>
                </a:lnTo>
                <a:lnTo>
                  <a:pt x="0" y="20400"/>
                </a:lnTo>
                <a:close/>
              </a:path>
            </a:pathLst>
          </a:cu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oly [37]"/>
          <p:cNvSpPr/>
          <p:nvPr/>
        </p:nvSpPr>
        <p:spPr>
          <a:xfrm>
            <a:off x="11219040" y="4258800"/>
            <a:ext cx="146160" cy="146160"/>
          </a:xfrm>
          <a:custGeom>
            <a:avLst/>
            <a:gdLst/>
            <a:ahLst/>
            <a:cxnLst/>
            <a:rect l="l" t="t" r="r" b="b"/>
            <a:pathLst>
              <a:path w="1740" h="1740">
                <a:moveTo>
                  <a:pt x="0" y="0"/>
                </a:moveTo>
                <a:lnTo>
                  <a:pt x="0" y="1740"/>
                </a:lnTo>
                <a:lnTo>
                  <a:pt x="1740" y="1740"/>
                </a:lnTo>
                <a:close/>
              </a:path>
            </a:pathLst>
          </a:custGeom>
          <a:solidFill>
            <a:srgbClr val="B1C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ZIP [38]"/>
          <p:cNvSpPr txBox="1"/>
          <p:nvPr/>
        </p:nvSpPr>
        <p:spPr>
          <a:xfrm>
            <a:off x="10414000" y="5308600"/>
            <a:ext cx="855133" cy="410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266" b="1">
                <a:solidFill>
                  <a:srgbClr val="17332E"/>
                </a:solidFill>
                <a:latin typeface="Noto Sans"/>
              </a:rPr>
              <a:t>ZIP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[1]" descr="hero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пробуйте Tirlik [2]"/>
          <p:cNvSpPr txBox="1"/>
          <p:nvPr/>
        </p:nvSpPr>
        <p:spPr>
          <a:xfrm>
            <a:off x="677333" y="897466"/>
            <a:ext cx="6011333" cy="1934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416"/>
              </a:lnSpc>
              <a:spcBef>
                <a:spcPts val="0"/>
              </a:spcBef>
              <a:spcAft>
                <a:spcPts val="0"/>
              </a:spcAft>
            </a:pPr>
            <a:r>
              <a:rPr sz="5933" b="1">
                <a:solidFill>
                  <a:srgbClr val="F3F6F4"/>
                </a:solidFill>
                <a:latin typeface="Noto Sans"/>
              </a:rPr>
              <a:t>Попробуйте</a:t>
            </a:r>
          </a:p>
          <a:p>
            <a:pPr algn="l">
              <a:lnSpc>
                <a:spcPts val="7416"/>
              </a:lnSpc>
              <a:spcBef>
                <a:spcPts val="0"/>
              </a:spcBef>
              <a:spcAft>
                <a:spcPts val="0"/>
              </a:spcAft>
            </a:pPr>
            <a:r>
              <a:rPr sz="5933" b="1">
                <a:solidFill>
                  <a:srgbClr val="F3F6F4"/>
                </a:solidFill>
                <a:latin typeface="Noto Sans"/>
              </a:rPr>
              <a:t>Tirlik</a:t>
            </a:r>
          </a:p>
        </p:txBody>
      </p:sp>
      <p:sp>
        <p:nvSpPr>
          <p:cNvPr id="4" name="Начните со своей задачи или готового рабочего примера. [3]"/>
          <p:cNvSpPr txBox="1"/>
          <p:nvPr/>
        </p:nvSpPr>
        <p:spPr>
          <a:xfrm>
            <a:off x="711200" y="3132666"/>
            <a:ext cx="55880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Начните со своей задачи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7CFC4"/>
                </a:solidFill>
                <a:latin typeface="Noto Sans"/>
              </a:rPr>
              <a:t>или готового рабочего примера.</a:t>
            </a:r>
          </a:p>
        </p:txBody>
      </p:sp>
      <p:sp>
        <p:nvSpPr>
          <p:cNvPr id="5" name="tirlik.vercel.app [4]"/>
          <p:cNvSpPr txBox="1"/>
          <p:nvPr/>
        </p:nvSpPr>
        <p:spPr>
          <a:xfrm>
            <a:off x="677333" y="4656666"/>
            <a:ext cx="6011333" cy="5693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83"/>
              </a:lnSpc>
              <a:spcBef>
                <a:spcPts val="0"/>
              </a:spcBef>
              <a:spcAft>
                <a:spcPts val="0"/>
              </a:spcAft>
            </a:pPr>
            <a:r>
              <a:rPr sz="3266" b="1">
                <a:solidFill>
                  <a:srgbClr val="F3F6F4"/>
                </a:solidFill>
                <a:latin typeface="Noto Sans"/>
                <a:hlinkClick r:id="rId3"/>
              </a:rPr>
              <a:t>tirlik.vercel.app</a:t>
            </a:r>
          </a:p>
        </p:txBody>
      </p:sp>
      <p:sp>
        <p:nvSpPr>
          <p:cNvPr id="6" name="Код проекта и запуск [5]"/>
          <p:cNvSpPr txBox="1"/>
          <p:nvPr/>
        </p:nvSpPr>
        <p:spPr>
          <a:xfrm>
            <a:off x="711200" y="5537200"/>
            <a:ext cx="5461000" cy="336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CFC4"/>
                </a:solidFill>
                <a:latin typeface="Noto Sans"/>
                <a:hlinkClick r:id="rId4"/>
              </a:rPr>
              <a:t>Код проекта и запуск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Tirlik | Всё для вашего бизнеса</dc:title>
  <dc:subject>Рабочие материалы по данным и ограничениям бизнеса</dc:subject>
  <dc:creator>Tirlik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